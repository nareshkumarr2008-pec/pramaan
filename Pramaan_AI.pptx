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89" d="100"/>
          <a:sy n="89" d="100"/>
        </p:scale>
        <p:origin x="437" y="-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208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5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20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7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24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23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A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A4C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8778240" y="-2194560"/>
            <a:ext cx="5943600" cy="5943600"/>
          </a:xfrm>
          <a:prstGeom prst="ellipse">
            <a:avLst/>
          </a:prstGeom>
          <a:solidFill>
            <a:srgbClr val="1E3B66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011680" y="4206240"/>
            <a:ext cx="4937760" cy="4937760"/>
          </a:xfrm>
          <a:prstGeom prst="ellipse">
            <a:avLst/>
          </a:prstGeom>
          <a:solidFill>
            <a:srgbClr val="1E3B66">
              <a:alpha val="5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234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2A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NATIONAL SKILL MATCHING &amp; MSME WORKFORCE PLATFORM</a:t>
            </a:r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Pramaan.AI</a:t>
            </a:r>
            <a:endParaRPr lang="en-US" sz="6800" dirty="0"/>
          </a:p>
        </p:txBody>
      </p:sp>
      <p:sp>
        <p:nvSpPr>
          <p:cNvPr id="7" name="Text 5"/>
          <p:cNvSpPr/>
          <p:nvPr/>
        </p:nvSpPr>
        <p:spPr>
          <a:xfrm>
            <a:off x="822960" y="32004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D9E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r>
              <a:rPr lang="en-US" sz="2400" dirty="0">
                <a:solidFill>
                  <a:srgbClr val="D9E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of Proof, We just built the machine for it.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3886200"/>
            <a:ext cx="8778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EC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invisible, undocumented skill into a verified, portable credential — so every worker can prove it, and every MSME can trust it.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5074920"/>
            <a:ext cx="3246120" cy="868680"/>
          </a:xfrm>
          <a:prstGeom prst="roundRect">
            <a:avLst>
              <a:gd name="adj" fmla="val 12632"/>
            </a:avLst>
          </a:prstGeom>
          <a:solidFill>
            <a:srgbClr val="1E3B66"/>
          </a:solidFill>
          <a:ln w="12700">
            <a:solidFill>
              <a:srgbClr val="2C4B7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87552" y="5230368"/>
            <a:ext cx="548640" cy="548640"/>
          </a:xfrm>
          <a:prstGeom prst="ellipse">
            <a:avLst/>
          </a:prstGeom>
          <a:solidFill>
            <a:srgbClr val="F2A33B"/>
          </a:solidFill>
          <a:ln/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" y="5353812"/>
            <a:ext cx="301752" cy="30175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664208" y="5074920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Credit Score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251960" y="5074920"/>
            <a:ext cx="3246120" cy="868680"/>
          </a:xfrm>
          <a:prstGeom prst="roundRect">
            <a:avLst>
              <a:gd name="adj" fmla="val 12632"/>
            </a:avLst>
          </a:prstGeom>
          <a:solidFill>
            <a:srgbClr val="1E3B66"/>
          </a:solidFill>
          <a:ln w="12700">
            <a:solidFill>
              <a:srgbClr val="2C4B7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416552" y="5230368"/>
            <a:ext cx="548640" cy="548640"/>
          </a:xfrm>
          <a:prstGeom prst="ellipse">
            <a:avLst/>
          </a:prstGeom>
          <a:solidFill>
            <a:srgbClr val="F2A33B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9996" y="5353812"/>
            <a:ext cx="301752" cy="30175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093208" y="5074920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Skilling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7680960" y="5074920"/>
            <a:ext cx="3246120" cy="868680"/>
          </a:xfrm>
          <a:prstGeom prst="roundRect">
            <a:avLst>
              <a:gd name="adj" fmla="val 12632"/>
            </a:avLst>
          </a:prstGeom>
          <a:solidFill>
            <a:srgbClr val="1E3B66"/>
          </a:solidFill>
          <a:ln w="12700">
            <a:solidFill>
              <a:srgbClr val="2C4B7C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845552" y="5230368"/>
            <a:ext cx="548640" cy="548640"/>
          </a:xfrm>
          <a:prstGeom prst="ellipse">
            <a:avLst/>
          </a:prstGeom>
          <a:solidFill>
            <a:srgbClr val="F2A33B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8996" y="5353812"/>
            <a:ext cx="301752" cy="30175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522208" y="5074920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 Credentials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822960" y="6217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49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Pramaan.AI  —  React · Express · SQLite · Fine-Tuned AI</a:t>
            </a:r>
            <a:endParaRPr lang="en-US" sz="11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916E0DF-FC08-93DD-E36C-9B6E5354E718}"/>
              </a:ext>
            </a:extLst>
          </p:cNvPr>
          <p:cNvSpPr txBox="1"/>
          <p:nvPr/>
        </p:nvSpPr>
        <p:spPr>
          <a:xfrm>
            <a:off x="822960" y="1600200"/>
            <a:ext cx="89248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kern="0" spc="150" dirty="0">
                <a:solidFill>
                  <a:srgbClr val="F2A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 EMPLOYMENT &amp; TALENT UTILISATION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India’s workforce skill is real — but invisible on paper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skilled tradespeople have no way to prove what they can actually do, and the small businesses hiring them have no reliable way to check.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429000" cy="356616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4E7EE"/>
            </a:solidFill>
            <a:prstDash val="solid"/>
          </a:ln>
          <a:effectLst>
            <a:outerShdw blurRad="127000" dist="38100" dir="5400000" algn="bl" rotWithShape="0">
              <a:srgbClr val="9AA5B8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606040"/>
            <a:ext cx="777240" cy="777240"/>
          </a:xfrm>
          <a:prstGeom prst="ellipse">
            <a:avLst/>
          </a:prstGeom>
          <a:solidFill>
            <a:srgbClr val="D8543F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990" y="2800350"/>
            <a:ext cx="388620" cy="3886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361188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proof of skill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68680" y="4069080"/>
            <a:ext cx="27889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welder or electrician’s ability lives only in word-of-mouth — there is no verifiable, comparable record of what they can do.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233672" y="2286000"/>
            <a:ext cx="3429000" cy="356616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4E7EE"/>
            </a:solidFill>
            <a:prstDash val="solid"/>
          </a:ln>
          <a:effectLst>
            <a:outerShdw blurRad="127000" dist="38100" dir="5400000" algn="bl" rotWithShape="0">
              <a:srgbClr val="9AA5B8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53712" y="2606040"/>
            <a:ext cx="777240" cy="777240"/>
          </a:xfrm>
          <a:prstGeom prst="ellipse">
            <a:avLst/>
          </a:prstGeom>
          <a:solidFill>
            <a:srgbClr val="F2A33B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8022" y="2800350"/>
            <a:ext cx="388620" cy="3886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53712" y="361188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MSMEs hire blind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4553712" y="4069080"/>
            <a:ext cx="27889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manufacturers can’t verify claims, so hiring is a gamble — costly trial-and-error on the shop floor.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7918704" y="2286000"/>
            <a:ext cx="3429000" cy="356616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4E7EE"/>
            </a:solidFill>
            <a:prstDash val="solid"/>
          </a:ln>
          <a:effectLst>
            <a:outerShdw blurRad="127000" dist="38100" dir="5400000" algn="bl" rotWithShape="0">
              <a:srgbClr val="9AA5B8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238744" y="2606040"/>
            <a:ext cx="777240" cy="777240"/>
          </a:xfrm>
          <a:prstGeom prst="ellipse">
            <a:avLst/>
          </a:prstGeom>
          <a:solidFill>
            <a:srgbClr val="D8543F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3054" y="2800350"/>
            <a:ext cx="388620" cy="3886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238744" y="361188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Credentials aren’t portable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8238744" y="4069080"/>
            <a:ext cx="27889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Whatever trust a worker earns at one shop resets to zero the moment they look for the next job.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548640" y="6053328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132A4C"/>
          </a:solidFill>
          <a:ln/>
        </p:spPr>
      </p:sp>
      <p:sp>
        <p:nvSpPr>
          <p:cNvPr id="21" name="Text 16"/>
          <p:cNvSpPr/>
          <p:nvPr/>
        </p:nvSpPr>
        <p:spPr>
          <a:xfrm>
            <a:off x="777240" y="6053328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D9E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Widely-cited estimates put over 90% of India’s workforce in the informal sector, spread across 60M+ MSMEs — a structural, national-scale gap.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Pramaan.AI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AI engine. Three problems solved at once.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Pramaan.AI is a full-stack platform where an AI examiner grades real skill, an AI trainer writes onboarding for new hires, and an AI matchmaker connects the two — end to end.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429000" cy="3794760"/>
          </a:xfrm>
          <a:prstGeom prst="roundRect">
            <a:avLst>
              <a:gd name="adj" fmla="val 2667"/>
            </a:avLst>
          </a:prstGeom>
          <a:solidFill>
            <a:srgbClr val="132A4C"/>
          </a:solidFill>
          <a:ln/>
          <a:effectLst>
            <a:outerShdw blurRad="152400" dist="38100" dir="5400000" algn="bl" rotWithShape="0">
              <a:srgbClr val="9AA5B8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441448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2624328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1248" y="3383280"/>
            <a:ext cx="2843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 Credit Score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41248" y="3886200"/>
            <a:ext cx="2843784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1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worker describes how they perform a task; the AI examiner grades it 0–900 like a real trade viva — vague answers score low, specific and safety-aware answers score high.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233672" y="2148840"/>
            <a:ext cx="3429000" cy="3794760"/>
          </a:xfrm>
          <a:prstGeom prst="roundRect">
            <a:avLst>
              <a:gd name="adj" fmla="val 2667"/>
            </a:avLst>
          </a:prstGeom>
          <a:solidFill>
            <a:srgbClr val="1E9E6C"/>
          </a:solidFill>
          <a:ln/>
          <a:effectLst>
            <a:outerShdw blurRad="152400" dist="38100" dir="5400000" algn="bl" rotWithShape="0">
              <a:srgbClr val="9AA5B8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26280" y="2441448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2624328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26280" y="3383280"/>
            <a:ext cx="2843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Reverse Skilling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4526280" y="3886200"/>
            <a:ext cx="2843784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1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MSME owner describes their exact machine or SOP in plain language; the AI instantly writes a custom micro-training capsule — steps plus a quiz — for the next hire.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7918704" y="2148840"/>
            <a:ext cx="3429000" cy="3794760"/>
          </a:xfrm>
          <a:prstGeom prst="roundRect">
            <a:avLst>
              <a:gd name="adj" fmla="val 2667"/>
            </a:avLst>
          </a:prstGeom>
          <a:solidFill>
            <a:srgbClr val="F2A33B"/>
          </a:solidFill>
          <a:ln/>
          <a:effectLst>
            <a:outerShdw blurRad="152400" dist="38100" dir="5400000" algn="bl" rotWithShape="0">
              <a:srgbClr val="9AA5B8">
                <a:alpha val="3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211312" y="2441448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4192" y="2624328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211312" y="3383280"/>
            <a:ext cx="2843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 Matching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8211312" y="3886200"/>
            <a:ext cx="2843784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1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ranks the whole worker network against a job’s real requirements — score, trade, location, language — with a plain-English reason for every match.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Pramaan.AI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real full stack — not a slide-ware prototype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call is brokered by the backend, so no credentials (or, in local mode, no data at all) ever reach the browser.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880360" cy="1371600"/>
          </a:xfrm>
          <a:prstGeom prst="roundRect">
            <a:avLst>
              <a:gd name="adj" fmla="val 6667"/>
            </a:avLst>
          </a:prstGeom>
          <a:solidFill>
            <a:srgbClr val="132A4C"/>
          </a:solidFill>
          <a:ln/>
          <a:effectLst>
            <a:outerShdw blurRad="101600" dist="25400" dir="5400000" algn="bl" rotWithShape="0">
              <a:srgbClr val="9AA5B8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377440"/>
            <a:ext cx="566928" cy="566928"/>
          </a:xfrm>
          <a:prstGeom prst="ellipse">
            <a:avLst/>
          </a:prstGeom>
          <a:solidFill>
            <a:srgbClr val="F2A33B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799" y="2504999"/>
            <a:ext cx="311810" cy="31181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231343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(Vite)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63040" y="2679192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SPA · JWT session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977640" y="2148840"/>
            <a:ext cx="2880360" cy="1371600"/>
          </a:xfrm>
          <a:prstGeom prst="roundRect">
            <a:avLst>
              <a:gd name="adj" fmla="val 6667"/>
            </a:avLst>
          </a:prstGeom>
          <a:solidFill>
            <a:srgbClr val="132A4C"/>
          </a:solidFill>
          <a:ln/>
          <a:effectLst>
            <a:outerShdw blurRad="101600" dist="25400" dir="5400000" algn="bl" rotWithShape="0">
              <a:srgbClr val="9AA5B8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06240" y="2377440"/>
            <a:ext cx="566928" cy="566928"/>
          </a:xfrm>
          <a:prstGeom prst="ellipse">
            <a:avLst/>
          </a:prstGeom>
          <a:solidFill>
            <a:srgbClr val="F2A33B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3799" y="2504999"/>
            <a:ext cx="311810" cy="31181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892040" y="231343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Express API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892040" y="2679192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· Routes · Role guards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7406640" y="2148840"/>
            <a:ext cx="2103120" cy="1371600"/>
          </a:xfrm>
          <a:prstGeom prst="roundRect">
            <a:avLst>
              <a:gd name="adj" fmla="val 6667"/>
            </a:avLst>
          </a:prstGeom>
          <a:solidFill>
            <a:srgbClr val="132A4C"/>
          </a:solidFill>
          <a:ln/>
          <a:effectLst>
            <a:outerShdw blurRad="101600" dist="25400" dir="5400000" algn="bl" rotWithShape="0">
              <a:srgbClr val="9AA5B8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635240" y="2377440"/>
            <a:ext cx="566928" cy="566928"/>
          </a:xfrm>
          <a:prstGeom prst="ellipse">
            <a:avLst/>
          </a:prstGeom>
          <a:solidFill>
            <a:srgbClr val="F2A33B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62799" y="2504999"/>
            <a:ext cx="311810" cy="31181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21040" y="2313432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SQLite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8321040" y="2679192"/>
            <a:ext cx="1051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setu.db ledger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3429000" y="2724912"/>
            <a:ext cx="548640" cy="219456"/>
          </a:xfrm>
          <a:prstGeom prst="rightArrow">
            <a:avLst/>
          </a:prstGeom>
          <a:solidFill>
            <a:srgbClr val="667085"/>
          </a:solidFill>
          <a:ln/>
        </p:spPr>
      </p:sp>
      <p:sp>
        <p:nvSpPr>
          <p:cNvPr id="21" name="Shape 16"/>
          <p:cNvSpPr/>
          <p:nvPr/>
        </p:nvSpPr>
        <p:spPr>
          <a:xfrm>
            <a:off x="6858000" y="2724912"/>
            <a:ext cx="548640" cy="219456"/>
          </a:xfrm>
          <a:prstGeom prst="rightArrow">
            <a:avLst/>
          </a:prstGeom>
          <a:solidFill>
            <a:srgbClr val="667085"/>
          </a:solidFill>
          <a:ln/>
        </p:spPr>
      </p:sp>
      <p:sp>
        <p:nvSpPr>
          <p:cNvPr id="22" name="Shape 17"/>
          <p:cNvSpPr/>
          <p:nvPr/>
        </p:nvSpPr>
        <p:spPr>
          <a:xfrm>
            <a:off x="5417820" y="3520440"/>
            <a:ext cx="0" cy="274320"/>
          </a:xfrm>
          <a:prstGeom prst="line">
            <a:avLst/>
          </a:prstGeom>
          <a:noFill/>
          <a:ln w="19050">
            <a:solidFill>
              <a:srgbClr val="667085"/>
            </a:solidFill>
            <a:prstDash val="dash"/>
          </a:ln>
        </p:spPr>
      </p:sp>
      <p:sp>
        <p:nvSpPr>
          <p:cNvPr id="23" name="Text 18"/>
          <p:cNvSpPr/>
          <p:nvPr/>
        </p:nvSpPr>
        <p:spPr>
          <a:xfrm>
            <a:off x="4023360" y="37764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AI_PROVIDER switch — zero code changes to routes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2834640" y="4297680"/>
            <a:ext cx="2743200" cy="1463040"/>
          </a:xfrm>
          <a:prstGeom prst="roundRect">
            <a:avLst>
              <a:gd name="adj" fmla="val 6250"/>
            </a:avLst>
          </a:prstGeom>
          <a:solidFill>
            <a:srgbClr val="1E3B66"/>
          </a:solidFill>
          <a:ln/>
          <a:effectLst>
            <a:outerShdw blurRad="101600" dist="25400" dir="5400000" algn="bl" rotWithShape="0">
              <a:srgbClr val="9AA5B8">
                <a:alpha val="2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3035808" y="4498848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59252" y="4622292"/>
            <a:ext cx="301752" cy="30175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3703320" y="4443984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— Anthropic API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3035808" y="5138928"/>
            <a:ext cx="23408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AI_PROVIDER=cloud · frontier-quality grading, capsules, resumes, matching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5852160" y="4297680"/>
            <a:ext cx="2743200" cy="1463040"/>
          </a:xfrm>
          <a:prstGeom prst="roundRect">
            <a:avLst>
              <a:gd name="adj" fmla="val 6250"/>
            </a:avLst>
          </a:prstGeom>
          <a:solidFill>
            <a:srgbClr val="1E9E6C"/>
          </a:solidFill>
          <a:ln/>
          <a:effectLst>
            <a:outerShdw blurRad="101600" dist="25400" dir="5400000" algn="bl" rotWithShape="0">
              <a:srgbClr val="9AA5B8">
                <a:alpha val="25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6053328" y="4498848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6772" y="4622292"/>
            <a:ext cx="301752" cy="301752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6720840" y="4443984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— Fine-Tuned Model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6053328" y="5138928"/>
            <a:ext cx="23408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AI_PROVIDER=local · "setu-ai" via Ollama · fully offline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5413248" y="3794760"/>
            <a:ext cx="0" cy="1005840"/>
          </a:xfrm>
          <a:prstGeom prst="line">
            <a:avLst/>
          </a:prstGeom>
          <a:noFill/>
          <a:ln w="15875">
            <a:solidFill>
              <a:srgbClr val="667085"/>
            </a:solidFill>
            <a:prstDash val="dash"/>
          </a:ln>
        </p:spPr>
      </p:sp>
      <p:sp>
        <p:nvSpPr>
          <p:cNvPr id="35" name="Shape 28"/>
          <p:cNvSpPr/>
          <p:nvPr/>
        </p:nvSpPr>
        <p:spPr>
          <a:xfrm>
            <a:off x="5413248" y="3794760"/>
            <a:ext cx="1810512" cy="1005840"/>
          </a:xfrm>
          <a:prstGeom prst="line">
            <a:avLst/>
          </a:prstGeom>
          <a:noFill/>
          <a:ln w="15875">
            <a:solidFill>
              <a:srgbClr val="667085"/>
            </a:solidFill>
            <a:prstDash val="dash"/>
          </a:ln>
        </p:spPr>
      </p:sp>
      <p:sp>
        <p:nvSpPr>
          <p:cNvPr id="36" name="Text 29"/>
          <p:cNvSpPr/>
          <p:nvPr/>
        </p:nvSpPr>
        <p:spPr>
          <a:xfrm>
            <a:off x="2834640" y="594360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callClaudeJSON(system, prompt, maxTokens) — identical interface on both paths</a:t>
            </a:r>
            <a:endParaRPr lang="en-US" sz="1050" dirty="0"/>
          </a:p>
        </p:txBody>
      </p:sp>
      <p:sp>
        <p:nvSpPr>
          <p:cNvPr id="37" name="Text 3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Pramaan.AI</a:t>
            </a:r>
            <a:endParaRPr lang="en-US" sz="1000" dirty="0"/>
          </a:p>
        </p:txBody>
      </p:sp>
      <p:sp>
        <p:nvSpPr>
          <p:cNvPr id="38" name="Text 3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· 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Worker Journey — from spoken skill to verified passport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2194560"/>
            <a:ext cx="2076237" cy="3383280"/>
          </a:xfrm>
          <a:prstGeom prst="roundRect">
            <a:avLst>
              <a:gd name="adj" fmla="val 3964"/>
            </a:avLst>
          </a:prstGeom>
          <a:solidFill>
            <a:srgbClr val="FFFFFF"/>
          </a:solidFill>
          <a:ln w="12700">
            <a:solidFill>
              <a:srgbClr val="E4E7EE"/>
            </a:solidFill>
            <a:prstDash val="solid"/>
          </a:ln>
          <a:effectLst>
            <a:outerShdw blurRad="101600" dist="25400" dir="5400000" algn="bl" rotWithShape="0">
              <a:srgbClr val="9AA5B8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39870" y="1993392"/>
            <a:ext cx="402336" cy="402336"/>
          </a:xfrm>
          <a:prstGeom prst="ellipse">
            <a:avLst/>
          </a:prstGeom>
          <a:solidFill>
            <a:srgbClr val="132A4C"/>
          </a:solidFill>
          <a:ln w="38100">
            <a:solidFill>
              <a:srgbClr val="FBFA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39870" y="19933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193566" y="2514600"/>
            <a:ext cx="694944" cy="694944"/>
          </a:xfrm>
          <a:prstGeom prst="ellipse">
            <a:avLst/>
          </a:prstGeom>
          <a:solidFill>
            <a:srgbClr val="1E3B66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7302" y="2688336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12648" y="3364992"/>
            <a:ext cx="1856781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7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 Up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40080" y="3886200"/>
            <a:ext cx="1801917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8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registers with role-gated auth (bcrypt + JWT).</a:t>
            </a:r>
            <a:endParaRPr lang="en-US" sz="1080" dirty="0"/>
          </a:p>
        </p:txBody>
      </p:sp>
      <p:sp>
        <p:nvSpPr>
          <p:cNvPr id="11" name="Shape 8"/>
          <p:cNvSpPr/>
          <p:nvPr/>
        </p:nvSpPr>
        <p:spPr>
          <a:xfrm>
            <a:off x="2597445" y="3794760"/>
            <a:ext cx="164592" cy="182880"/>
          </a:xfrm>
          <a:prstGeom prst="rightArrow">
            <a:avLst/>
          </a:prstGeom>
          <a:solidFill>
            <a:srgbClr val="F2A33B"/>
          </a:solidFill>
          <a:ln/>
        </p:spPr>
      </p:sp>
      <p:sp>
        <p:nvSpPr>
          <p:cNvPr id="12" name="Shape 9"/>
          <p:cNvSpPr/>
          <p:nvPr/>
        </p:nvSpPr>
        <p:spPr>
          <a:xfrm>
            <a:off x="2780325" y="2194560"/>
            <a:ext cx="2076237" cy="3383280"/>
          </a:xfrm>
          <a:prstGeom prst="roundRect">
            <a:avLst>
              <a:gd name="adj" fmla="val 3964"/>
            </a:avLst>
          </a:prstGeom>
          <a:solidFill>
            <a:srgbClr val="FFFFFF"/>
          </a:solidFill>
          <a:ln w="12700">
            <a:solidFill>
              <a:srgbClr val="E4E7EE"/>
            </a:solidFill>
            <a:prstDash val="solid"/>
          </a:ln>
          <a:effectLst>
            <a:outerShdw blurRad="101600" dist="25400" dir="5400000" algn="bl" rotWithShape="0">
              <a:srgbClr val="9AA5B8">
                <a:alpha val="2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617275" y="1993392"/>
            <a:ext cx="402336" cy="402336"/>
          </a:xfrm>
          <a:prstGeom prst="ellipse">
            <a:avLst/>
          </a:prstGeom>
          <a:solidFill>
            <a:srgbClr val="132A4C"/>
          </a:solidFill>
          <a:ln w="38100">
            <a:solidFill>
              <a:srgbClr val="FBFAF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617275" y="19933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3470971" y="2514600"/>
            <a:ext cx="694944" cy="694944"/>
          </a:xfrm>
          <a:prstGeom prst="ellipse">
            <a:avLst/>
          </a:prstGeom>
          <a:solidFill>
            <a:srgbClr val="1E3B66"/>
          </a:solidFill>
          <a:ln/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4707" y="2688336"/>
            <a:ext cx="347472" cy="34747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890053" y="3364992"/>
            <a:ext cx="1856781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7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 Assessment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2917485" y="3886200"/>
            <a:ext cx="1801917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8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Describes how they do a real task, in their own language.</a:t>
            </a:r>
            <a:endParaRPr lang="en-US" sz="1080" dirty="0"/>
          </a:p>
        </p:txBody>
      </p:sp>
      <p:sp>
        <p:nvSpPr>
          <p:cNvPr id="19" name="Shape 15"/>
          <p:cNvSpPr/>
          <p:nvPr/>
        </p:nvSpPr>
        <p:spPr>
          <a:xfrm>
            <a:off x="4874849" y="3794760"/>
            <a:ext cx="164592" cy="182880"/>
          </a:xfrm>
          <a:prstGeom prst="rightArrow">
            <a:avLst/>
          </a:prstGeom>
          <a:solidFill>
            <a:srgbClr val="F2A33B"/>
          </a:solidFill>
          <a:ln/>
        </p:spPr>
      </p:sp>
      <p:sp>
        <p:nvSpPr>
          <p:cNvPr id="20" name="Shape 16"/>
          <p:cNvSpPr/>
          <p:nvPr/>
        </p:nvSpPr>
        <p:spPr>
          <a:xfrm>
            <a:off x="5057729" y="2194560"/>
            <a:ext cx="2076237" cy="3383280"/>
          </a:xfrm>
          <a:prstGeom prst="roundRect">
            <a:avLst>
              <a:gd name="adj" fmla="val 3964"/>
            </a:avLst>
          </a:prstGeom>
          <a:solidFill>
            <a:srgbClr val="FFFFFF"/>
          </a:solidFill>
          <a:ln w="12700">
            <a:solidFill>
              <a:srgbClr val="E4E7EE"/>
            </a:solidFill>
            <a:prstDash val="solid"/>
          </a:ln>
          <a:effectLst>
            <a:outerShdw blurRad="101600" dist="25400" dir="5400000" algn="bl" rotWithShape="0">
              <a:srgbClr val="9AA5B8">
                <a:alpha val="2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5894680" y="1993392"/>
            <a:ext cx="402336" cy="402336"/>
          </a:xfrm>
          <a:prstGeom prst="ellipse">
            <a:avLst/>
          </a:prstGeom>
          <a:solidFill>
            <a:srgbClr val="132A4C"/>
          </a:solidFill>
          <a:ln w="38100">
            <a:solidFill>
              <a:srgbClr val="FBFAF7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894680" y="19933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5748376" y="2514600"/>
            <a:ext cx="694944" cy="694944"/>
          </a:xfrm>
          <a:prstGeom prst="ellipse">
            <a:avLst/>
          </a:prstGeom>
          <a:solidFill>
            <a:srgbClr val="F2A33B"/>
          </a:solidFill>
          <a:ln/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2112" y="2688336"/>
            <a:ext cx="347472" cy="34747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167457" y="3364992"/>
            <a:ext cx="1856781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7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Grading</a:t>
            </a:r>
            <a:endParaRPr lang="en-US" sz="1350" dirty="0"/>
          </a:p>
        </p:txBody>
      </p:sp>
      <p:sp>
        <p:nvSpPr>
          <p:cNvPr id="26" name="Text 21"/>
          <p:cNvSpPr/>
          <p:nvPr/>
        </p:nvSpPr>
        <p:spPr>
          <a:xfrm>
            <a:off x="5194889" y="3886200"/>
            <a:ext cx="1801917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8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examiner scores 0–900, flags strengths &amp; gaps.</a:t>
            </a:r>
            <a:endParaRPr lang="en-US" sz="1080" dirty="0"/>
          </a:p>
        </p:txBody>
      </p:sp>
      <p:sp>
        <p:nvSpPr>
          <p:cNvPr id="27" name="Shape 22"/>
          <p:cNvSpPr/>
          <p:nvPr/>
        </p:nvSpPr>
        <p:spPr>
          <a:xfrm>
            <a:off x="7152254" y="3794760"/>
            <a:ext cx="164592" cy="182880"/>
          </a:xfrm>
          <a:prstGeom prst="rightArrow">
            <a:avLst/>
          </a:prstGeom>
          <a:solidFill>
            <a:srgbClr val="F2A33B"/>
          </a:solidFill>
          <a:ln/>
        </p:spPr>
      </p:sp>
      <p:sp>
        <p:nvSpPr>
          <p:cNvPr id="28" name="Shape 23"/>
          <p:cNvSpPr/>
          <p:nvPr/>
        </p:nvSpPr>
        <p:spPr>
          <a:xfrm>
            <a:off x="7335134" y="2194560"/>
            <a:ext cx="2076237" cy="3383280"/>
          </a:xfrm>
          <a:prstGeom prst="roundRect">
            <a:avLst>
              <a:gd name="adj" fmla="val 3964"/>
            </a:avLst>
          </a:prstGeom>
          <a:solidFill>
            <a:srgbClr val="FFFFFF"/>
          </a:solidFill>
          <a:ln w="12700">
            <a:solidFill>
              <a:srgbClr val="E4E7EE"/>
            </a:solidFill>
            <a:prstDash val="solid"/>
          </a:ln>
          <a:effectLst>
            <a:outerShdw blurRad="101600" dist="25400" dir="5400000" algn="bl" rotWithShape="0">
              <a:srgbClr val="9AA5B8">
                <a:alpha val="22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8172084" y="1993392"/>
            <a:ext cx="402336" cy="402336"/>
          </a:xfrm>
          <a:prstGeom prst="ellipse">
            <a:avLst/>
          </a:prstGeom>
          <a:solidFill>
            <a:srgbClr val="132A4C"/>
          </a:solidFill>
          <a:ln w="38100">
            <a:solidFill>
              <a:srgbClr val="FBFAF7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8172084" y="19933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Shape 26"/>
          <p:cNvSpPr/>
          <p:nvPr/>
        </p:nvSpPr>
        <p:spPr>
          <a:xfrm>
            <a:off x="8025780" y="2514600"/>
            <a:ext cx="694944" cy="694944"/>
          </a:xfrm>
          <a:prstGeom prst="ellipse">
            <a:avLst/>
          </a:prstGeom>
          <a:solidFill>
            <a:srgbClr val="1E3B66"/>
          </a:solidFill>
          <a:ln/>
        </p:spPr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9516" y="2688336"/>
            <a:ext cx="347472" cy="347472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7444862" y="3364992"/>
            <a:ext cx="1856781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7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 Passport</a:t>
            </a:r>
            <a:endParaRPr lang="en-US" sz="1350" dirty="0"/>
          </a:p>
        </p:txBody>
      </p:sp>
      <p:sp>
        <p:nvSpPr>
          <p:cNvPr id="34" name="Text 28"/>
          <p:cNvSpPr/>
          <p:nvPr/>
        </p:nvSpPr>
        <p:spPr>
          <a:xfrm>
            <a:off x="7472294" y="3886200"/>
            <a:ext cx="1801917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8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profile stored as a portable credential.</a:t>
            </a:r>
            <a:endParaRPr lang="en-US" sz="1080" dirty="0"/>
          </a:p>
        </p:txBody>
      </p:sp>
      <p:sp>
        <p:nvSpPr>
          <p:cNvPr id="35" name="Shape 29"/>
          <p:cNvSpPr/>
          <p:nvPr/>
        </p:nvSpPr>
        <p:spPr>
          <a:xfrm>
            <a:off x="9429659" y="3794760"/>
            <a:ext cx="164592" cy="182880"/>
          </a:xfrm>
          <a:prstGeom prst="rightArrow">
            <a:avLst/>
          </a:prstGeom>
          <a:solidFill>
            <a:srgbClr val="F2A33B"/>
          </a:solidFill>
          <a:ln/>
        </p:spPr>
      </p:sp>
      <p:sp>
        <p:nvSpPr>
          <p:cNvPr id="36" name="Shape 30"/>
          <p:cNvSpPr/>
          <p:nvPr/>
        </p:nvSpPr>
        <p:spPr>
          <a:xfrm>
            <a:off x="9612539" y="2194560"/>
            <a:ext cx="2076237" cy="3383280"/>
          </a:xfrm>
          <a:prstGeom prst="roundRect">
            <a:avLst>
              <a:gd name="adj" fmla="val 3964"/>
            </a:avLst>
          </a:prstGeom>
          <a:solidFill>
            <a:srgbClr val="FFFFFF"/>
          </a:solidFill>
          <a:ln w="12700">
            <a:solidFill>
              <a:srgbClr val="E4E7EE"/>
            </a:solidFill>
            <a:prstDash val="solid"/>
          </a:ln>
          <a:effectLst>
            <a:outerShdw blurRad="101600" dist="25400" dir="5400000" algn="bl" rotWithShape="0">
              <a:srgbClr val="9AA5B8">
                <a:alpha val="22000"/>
              </a:srgbClr>
            </a:outerShdw>
          </a:effectLst>
        </p:spPr>
      </p:sp>
      <p:sp>
        <p:nvSpPr>
          <p:cNvPr id="37" name="Shape 31"/>
          <p:cNvSpPr/>
          <p:nvPr/>
        </p:nvSpPr>
        <p:spPr>
          <a:xfrm>
            <a:off x="10449489" y="1993392"/>
            <a:ext cx="402336" cy="402336"/>
          </a:xfrm>
          <a:prstGeom prst="ellipse">
            <a:avLst/>
          </a:prstGeom>
          <a:solidFill>
            <a:srgbClr val="132A4C"/>
          </a:solidFill>
          <a:ln w="38100">
            <a:solidFill>
              <a:srgbClr val="FBFAF7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10449489" y="19933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39" name="Shape 33"/>
          <p:cNvSpPr/>
          <p:nvPr/>
        </p:nvSpPr>
        <p:spPr>
          <a:xfrm>
            <a:off x="10303185" y="2514600"/>
            <a:ext cx="694944" cy="694944"/>
          </a:xfrm>
          <a:prstGeom prst="ellipse">
            <a:avLst/>
          </a:prstGeom>
          <a:solidFill>
            <a:srgbClr val="1E3B66"/>
          </a:solidFill>
          <a:ln/>
        </p:spPr>
      </p:sp>
      <p:pic>
        <p:nvPicPr>
          <p:cNvPr id="4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76921" y="2688336"/>
            <a:ext cx="347472" cy="347472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9722267" y="3364992"/>
            <a:ext cx="1856781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7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 Generation</a:t>
            </a:r>
            <a:endParaRPr lang="en-US" sz="1350" dirty="0"/>
          </a:p>
        </p:txBody>
      </p:sp>
      <p:sp>
        <p:nvSpPr>
          <p:cNvPr id="42" name="Text 35"/>
          <p:cNvSpPr/>
          <p:nvPr/>
        </p:nvSpPr>
        <p:spPr>
          <a:xfrm>
            <a:off x="9749699" y="3886200"/>
            <a:ext cx="1801917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8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One-page resume auto-written in English / Hindi / Tamil.</a:t>
            </a:r>
            <a:endParaRPr lang="en-US" sz="1080" dirty="0"/>
          </a:p>
        </p:txBody>
      </p:sp>
      <p:sp>
        <p:nvSpPr>
          <p:cNvPr id="43" name="Shape 36"/>
          <p:cNvSpPr/>
          <p:nvPr/>
        </p:nvSpPr>
        <p:spPr>
          <a:xfrm>
            <a:off x="502920" y="5806440"/>
            <a:ext cx="11155680" cy="685800"/>
          </a:xfrm>
          <a:prstGeom prst="roundRect">
            <a:avLst>
              <a:gd name="adj" fmla="val 10667"/>
            </a:avLst>
          </a:prstGeom>
          <a:solidFill>
            <a:srgbClr val="132A4C"/>
          </a:solidFill>
          <a:ln/>
        </p:spPr>
      </p:sp>
      <p:sp>
        <p:nvSpPr>
          <p:cNvPr id="44" name="Text 37"/>
          <p:cNvSpPr/>
          <p:nvPr/>
        </p:nvSpPr>
        <p:spPr>
          <a:xfrm>
            <a:off x="731520" y="580644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D9E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grading is strict by design: vague, generic answers score under 400 — specific, safety-aware, technically correct answers score 700–900.</a:t>
            </a:r>
            <a:endParaRPr lang="en-US" sz="1250" dirty="0"/>
          </a:p>
        </p:txBody>
      </p:sp>
      <p:sp>
        <p:nvSpPr>
          <p:cNvPr id="45" name="Text 3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Pramaan.AI</a:t>
            </a:r>
            <a:endParaRPr lang="en-US" sz="1000" dirty="0"/>
          </a:p>
        </p:txBody>
      </p:sp>
      <p:sp>
        <p:nvSpPr>
          <p:cNvPr id="46" name="Text 3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71F224A-50F7-5A37-73B7-5A3EA3964599}"/>
              </a:ext>
            </a:extLst>
          </p:cNvPr>
          <p:cNvSpPr txBox="1"/>
          <p:nvPr/>
        </p:nvSpPr>
        <p:spPr>
          <a:xfrm>
            <a:off x="5167457" y="4485736"/>
            <a:ext cx="185678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NSQF </a:t>
            </a:r>
          </a:p>
          <a:p>
            <a:pPr algn="ctr"/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Skills Qualification Framework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· 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MSME Journey — from a shop-floor task to a ready hire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2194560"/>
            <a:ext cx="2590724" cy="3383280"/>
          </a:xfrm>
          <a:prstGeom prst="roundRect">
            <a:avLst>
              <a:gd name="adj" fmla="val 3177"/>
            </a:avLst>
          </a:prstGeom>
          <a:solidFill>
            <a:srgbClr val="FFFFFF"/>
          </a:solidFill>
          <a:ln w="12700">
            <a:solidFill>
              <a:srgbClr val="E4E7EE"/>
            </a:solidFill>
            <a:prstDash val="solid"/>
          </a:ln>
          <a:effectLst>
            <a:outerShdw blurRad="101600" dist="25400" dir="5400000" algn="bl" rotWithShape="0">
              <a:srgbClr val="9AA5B8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97114" y="1993392"/>
            <a:ext cx="402336" cy="402336"/>
          </a:xfrm>
          <a:prstGeom prst="ellipse">
            <a:avLst/>
          </a:prstGeom>
          <a:solidFill>
            <a:srgbClr val="1E9E6C"/>
          </a:solidFill>
          <a:ln w="38100">
            <a:solidFill>
              <a:srgbClr val="FBFA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97114" y="19933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432522" y="2514600"/>
            <a:ext cx="731520" cy="731520"/>
          </a:xfrm>
          <a:prstGeom prst="ellipse">
            <a:avLst/>
          </a:prstGeom>
          <a:solidFill>
            <a:srgbClr val="1E3B66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5402" y="269748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12648" y="3401568"/>
            <a:ext cx="23712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7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 Up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667512" y="3931920"/>
            <a:ext cx="22615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MSME owner registers as an employer account.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130220" y="3785616"/>
            <a:ext cx="201168" cy="201168"/>
          </a:xfrm>
          <a:prstGeom prst="rightArrow">
            <a:avLst/>
          </a:prstGeom>
          <a:solidFill>
            <a:srgbClr val="1E9E6C"/>
          </a:solidFill>
          <a:ln/>
        </p:spPr>
      </p:sp>
      <p:sp>
        <p:nvSpPr>
          <p:cNvPr id="12" name="Shape 9"/>
          <p:cNvSpPr/>
          <p:nvPr/>
        </p:nvSpPr>
        <p:spPr>
          <a:xfrm>
            <a:off x="3367964" y="2194560"/>
            <a:ext cx="2590724" cy="3383280"/>
          </a:xfrm>
          <a:prstGeom prst="roundRect">
            <a:avLst>
              <a:gd name="adj" fmla="val 3177"/>
            </a:avLst>
          </a:prstGeom>
          <a:solidFill>
            <a:srgbClr val="FFFFFF"/>
          </a:solidFill>
          <a:ln w="12700">
            <a:solidFill>
              <a:srgbClr val="E4E7EE"/>
            </a:solidFill>
            <a:prstDash val="solid"/>
          </a:ln>
          <a:effectLst>
            <a:outerShdw blurRad="101600" dist="25400" dir="5400000" algn="bl" rotWithShape="0">
              <a:srgbClr val="9AA5B8">
                <a:alpha val="2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462158" y="1993392"/>
            <a:ext cx="402336" cy="402336"/>
          </a:xfrm>
          <a:prstGeom prst="ellipse">
            <a:avLst/>
          </a:prstGeom>
          <a:solidFill>
            <a:srgbClr val="1E9E6C"/>
          </a:solidFill>
          <a:ln w="38100">
            <a:solidFill>
              <a:srgbClr val="FBFAF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462158" y="19933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297566" y="2514600"/>
            <a:ext cx="731520" cy="731520"/>
          </a:xfrm>
          <a:prstGeom prst="ellipse">
            <a:avLst/>
          </a:prstGeom>
          <a:solidFill>
            <a:srgbClr val="1E3B66"/>
          </a:solidFill>
          <a:ln/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446" y="2697480"/>
            <a:ext cx="365760" cy="36576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477692" y="3401568"/>
            <a:ext cx="23712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7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Describe the Task</a:t>
            </a:r>
            <a:endParaRPr lang="en-US" sz="1450" dirty="0"/>
          </a:p>
        </p:txBody>
      </p:sp>
      <p:sp>
        <p:nvSpPr>
          <p:cNvPr id="18" name="Text 14"/>
          <p:cNvSpPr/>
          <p:nvPr/>
        </p:nvSpPr>
        <p:spPr>
          <a:xfrm>
            <a:off x="3532556" y="3931920"/>
            <a:ext cx="22615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description of the exact machine, process or SOP.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5995264" y="3785616"/>
            <a:ext cx="201168" cy="201168"/>
          </a:xfrm>
          <a:prstGeom prst="rightArrow">
            <a:avLst/>
          </a:prstGeom>
          <a:solidFill>
            <a:srgbClr val="1E9E6C"/>
          </a:solidFill>
          <a:ln/>
        </p:spPr>
      </p:sp>
      <p:sp>
        <p:nvSpPr>
          <p:cNvPr id="20" name="Shape 16"/>
          <p:cNvSpPr/>
          <p:nvPr/>
        </p:nvSpPr>
        <p:spPr>
          <a:xfrm>
            <a:off x="6233008" y="2194560"/>
            <a:ext cx="2590724" cy="3383280"/>
          </a:xfrm>
          <a:prstGeom prst="roundRect">
            <a:avLst>
              <a:gd name="adj" fmla="val 3177"/>
            </a:avLst>
          </a:prstGeom>
          <a:solidFill>
            <a:srgbClr val="FFFFFF"/>
          </a:solidFill>
          <a:ln w="12700">
            <a:solidFill>
              <a:srgbClr val="E4E7EE"/>
            </a:solidFill>
            <a:prstDash val="solid"/>
          </a:ln>
          <a:effectLst>
            <a:outerShdw blurRad="101600" dist="25400" dir="5400000" algn="bl" rotWithShape="0">
              <a:srgbClr val="9AA5B8">
                <a:alpha val="2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7327201" y="1993392"/>
            <a:ext cx="402336" cy="402336"/>
          </a:xfrm>
          <a:prstGeom prst="ellipse">
            <a:avLst/>
          </a:prstGeom>
          <a:solidFill>
            <a:srgbClr val="1E9E6C"/>
          </a:solidFill>
          <a:ln w="38100">
            <a:solidFill>
              <a:srgbClr val="FBFAF7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7327201" y="19933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7162609" y="2514600"/>
            <a:ext cx="731520" cy="731520"/>
          </a:xfrm>
          <a:prstGeom prst="ellipse">
            <a:avLst/>
          </a:prstGeom>
          <a:solidFill>
            <a:srgbClr val="F2A33B"/>
          </a:solidFill>
          <a:ln/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5489" y="2697480"/>
            <a:ext cx="365760" cy="36576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342736" y="3401568"/>
            <a:ext cx="23712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7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Capsule</a:t>
            </a:r>
            <a:endParaRPr lang="en-US" sz="1450" dirty="0"/>
          </a:p>
        </p:txBody>
      </p:sp>
      <p:sp>
        <p:nvSpPr>
          <p:cNvPr id="26" name="Text 21"/>
          <p:cNvSpPr/>
          <p:nvPr/>
        </p:nvSpPr>
        <p:spPr>
          <a:xfrm>
            <a:off x="6397600" y="3931920"/>
            <a:ext cx="22615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writes a role, required trade, skill tags, 4–6 steps, and a quiz.</a:t>
            </a:r>
            <a:endParaRPr lang="en-US" sz="1150" dirty="0"/>
          </a:p>
        </p:txBody>
      </p:sp>
      <p:sp>
        <p:nvSpPr>
          <p:cNvPr id="27" name="Shape 22"/>
          <p:cNvSpPr/>
          <p:nvPr/>
        </p:nvSpPr>
        <p:spPr>
          <a:xfrm>
            <a:off x="8860307" y="3785616"/>
            <a:ext cx="201168" cy="201168"/>
          </a:xfrm>
          <a:prstGeom prst="rightArrow">
            <a:avLst/>
          </a:prstGeom>
          <a:solidFill>
            <a:srgbClr val="1E9E6C"/>
          </a:solidFill>
          <a:ln/>
        </p:spPr>
      </p:sp>
      <p:sp>
        <p:nvSpPr>
          <p:cNvPr id="28" name="Shape 23"/>
          <p:cNvSpPr/>
          <p:nvPr/>
        </p:nvSpPr>
        <p:spPr>
          <a:xfrm>
            <a:off x="9098051" y="2194560"/>
            <a:ext cx="2590724" cy="3383280"/>
          </a:xfrm>
          <a:prstGeom prst="roundRect">
            <a:avLst>
              <a:gd name="adj" fmla="val 3177"/>
            </a:avLst>
          </a:prstGeom>
          <a:solidFill>
            <a:srgbClr val="FFFFFF"/>
          </a:solidFill>
          <a:ln w="12700">
            <a:solidFill>
              <a:srgbClr val="E4E7EE"/>
            </a:solidFill>
            <a:prstDash val="solid"/>
          </a:ln>
          <a:effectLst>
            <a:outerShdw blurRad="101600" dist="25400" dir="5400000" algn="bl" rotWithShape="0">
              <a:srgbClr val="9AA5B8">
                <a:alpha val="22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10192245" y="1993392"/>
            <a:ext cx="402336" cy="402336"/>
          </a:xfrm>
          <a:prstGeom prst="ellipse">
            <a:avLst/>
          </a:prstGeom>
          <a:solidFill>
            <a:srgbClr val="1E9E6C"/>
          </a:solidFill>
          <a:ln w="38100">
            <a:solidFill>
              <a:srgbClr val="FBFAF7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10192245" y="19933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Shape 26"/>
          <p:cNvSpPr/>
          <p:nvPr/>
        </p:nvSpPr>
        <p:spPr>
          <a:xfrm>
            <a:off x="10027653" y="2514600"/>
            <a:ext cx="731520" cy="731520"/>
          </a:xfrm>
          <a:prstGeom prst="ellipse">
            <a:avLst/>
          </a:prstGeom>
          <a:solidFill>
            <a:srgbClr val="1E3B66"/>
          </a:solidFill>
          <a:ln/>
        </p:spPr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10533" y="2697480"/>
            <a:ext cx="365760" cy="36576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9207779" y="3401568"/>
            <a:ext cx="23712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7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 the Job</a:t>
            </a:r>
            <a:endParaRPr lang="en-US" sz="1450" dirty="0"/>
          </a:p>
        </p:txBody>
      </p:sp>
      <p:sp>
        <p:nvSpPr>
          <p:cNvPr id="34" name="Text 28"/>
          <p:cNvSpPr/>
          <p:nvPr/>
        </p:nvSpPr>
        <p:spPr>
          <a:xfrm>
            <a:off x="9262643" y="3931920"/>
            <a:ext cx="22615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Capsule is reviewed and published to the worker network.</a:t>
            </a:r>
            <a:endParaRPr lang="en-US" sz="1150" dirty="0"/>
          </a:p>
        </p:txBody>
      </p:sp>
      <p:sp>
        <p:nvSpPr>
          <p:cNvPr id="35" name="Shape 29"/>
          <p:cNvSpPr/>
          <p:nvPr/>
        </p:nvSpPr>
        <p:spPr>
          <a:xfrm>
            <a:off x="502920" y="5806440"/>
            <a:ext cx="11155680" cy="685800"/>
          </a:xfrm>
          <a:prstGeom prst="roundRect">
            <a:avLst>
              <a:gd name="adj" fmla="val 10667"/>
            </a:avLst>
          </a:prstGeom>
          <a:solidFill>
            <a:srgbClr val="1E9E6C"/>
          </a:solidFill>
          <a:ln/>
        </p:spPr>
      </p:sp>
      <p:sp>
        <p:nvSpPr>
          <p:cNvPr id="36" name="Text 30"/>
          <p:cNvSpPr/>
          <p:nvPr/>
        </p:nvSpPr>
        <p:spPr>
          <a:xfrm>
            <a:off x="731520" y="580644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skilling: every generated step traces back to the owner’s exact words — never generic, boilerplate trade advice.</a:t>
            </a:r>
            <a:endParaRPr lang="en-US" sz="1250" dirty="0"/>
          </a:p>
        </p:txBody>
      </p:sp>
      <p:sp>
        <p:nvSpPr>
          <p:cNvPr id="37" name="Text 3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Pramaan.AI</a:t>
            </a:r>
            <a:endParaRPr lang="en-US" sz="1000" dirty="0"/>
          </a:p>
        </p:txBody>
      </p:sp>
      <p:sp>
        <p:nvSpPr>
          <p:cNvPr id="38" name="Text 3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· 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AI Matching Engine — ranking the whole network, explained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411480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4E7EE"/>
            </a:solidFill>
            <a:prstDash val="solid"/>
          </a:ln>
          <a:effectLst>
            <a:outerShdw blurRad="101600" dist="25400" dir="5400000" algn="bl" rotWithShape="0">
              <a:srgbClr val="9AA5B8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286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Signals the AI weighs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788920"/>
            <a:ext cx="457200" cy="457200"/>
          </a:xfrm>
          <a:prstGeom prst="ellipse">
            <a:avLst/>
          </a:prstGeom>
          <a:solidFill>
            <a:srgbClr val="132A4C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830" y="2891790"/>
            <a:ext cx="251460" cy="2514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278892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7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Credit Score, 0–900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22960" y="3410712"/>
            <a:ext cx="457200" cy="457200"/>
          </a:xfrm>
          <a:prstGeom prst="ellipse">
            <a:avLst/>
          </a:prstGeom>
          <a:solidFill>
            <a:srgbClr val="132A4C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830" y="3513582"/>
            <a:ext cx="251460" cy="2514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3410712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7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match to job requirement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822960" y="4032504"/>
            <a:ext cx="457200" cy="457200"/>
          </a:xfrm>
          <a:prstGeom prst="ellipse">
            <a:avLst/>
          </a:prstGeom>
          <a:solidFill>
            <a:srgbClr val="132A4C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5830" y="4135374"/>
            <a:ext cx="251460" cy="2514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4032504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7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proximity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822960" y="4654296"/>
            <a:ext cx="457200" cy="457200"/>
          </a:xfrm>
          <a:prstGeom prst="ellipse">
            <a:avLst/>
          </a:prstGeom>
          <a:solidFill>
            <a:srgbClr val="132A4C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5830" y="4757166"/>
            <a:ext cx="251460" cy="2514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417320" y="4654296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7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Spoken-language fit</a:t>
            </a:r>
            <a:endParaRPr lang="en-US" sz="1250" dirty="0"/>
          </a:p>
        </p:txBody>
      </p:sp>
      <p:sp>
        <p:nvSpPr>
          <p:cNvPr id="18" name="Shape 12"/>
          <p:cNvSpPr/>
          <p:nvPr/>
        </p:nvSpPr>
        <p:spPr>
          <a:xfrm>
            <a:off x="822960" y="5321808"/>
            <a:ext cx="3566160" cy="0"/>
          </a:xfrm>
          <a:prstGeom prst="line">
            <a:avLst/>
          </a:prstGeom>
          <a:noFill/>
          <a:ln w="12700">
            <a:solidFill>
              <a:srgbClr val="E4E7EE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548640" y="5813298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returns strict JSON: top 3 candidates, a 0–100 match score, and a one-line rationale citing score, trade and location/language fit.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4846320" y="3794760"/>
            <a:ext cx="502920" cy="320040"/>
          </a:xfrm>
          <a:prstGeom prst="rightArrow">
            <a:avLst/>
          </a:prstGeom>
          <a:solidFill>
            <a:srgbClr val="F2A33B"/>
          </a:solidFill>
          <a:ln/>
        </p:spPr>
      </p:sp>
      <p:sp>
        <p:nvSpPr>
          <p:cNvPr id="21" name="Shape 15"/>
          <p:cNvSpPr/>
          <p:nvPr/>
        </p:nvSpPr>
        <p:spPr>
          <a:xfrm>
            <a:off x="5577840" y="2103120"/>
            <a:ext cx="6080760" cy="3657600"/>
          </a:xfrm>
          <a:prstGeom prst="roundRect">
            <a:avLst>
              <a:gd name="adj" fmla="val 2500"/>
            </a:avLst>
          </a:prstGeom>
          <a:solidFill>
            <a:srgbClr val="132A4C"/>
          </a:solidFill>
          <a:ln/>
          <a:effectLst>
            <a:outerShdw blurRad="127000" dist="38100" dir="5400000" algn="bl" rotWithShape="0">
              <a:srgbClr val="9AA5B8">
                <a:alpha val="25000"/>
              </a:srgbClr>
            </a:outerShdw>
          </a:effectLst>
        </p:spPr>
      </p:sp>
      <p:sp>
        <p:nvSpPr>
          <p:cNvPr id="22" name="Text 16"/>
          <p:cNvSpPr/>
          <p:nvPr/>
        </p:nvSpPr>
        <p:spPr>
          <a:xfrm>
            <a:off x="5852160" y="228600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ranked output — Job: Welder, Coimbatore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5852160" y="2788920"/>
            <a:ext cx="5532120" cy="868680"/>
          </a:xfrm>
          <a:prstGeom prst="roundRect">
            <a:avLst>
              <a:gd name="adj" fmla="val 8421"/>
            </a:avLst>
          </a:prstGeom>
          <a:solidFill>
            <a:srgbClr val="1E3B66"/>
          </a:solidFill>
          <a:ln/>
        </p:spPr>
      </p:sp>
      <p:sp>
        <p:nvSpPr>
          <p:cNvPr id="24" name="Shape 18"/>
          <p:cNvSpPr/>
          <p:nvPr/>
        </p:nvSpPr>
        <p:spPr>
          <a:xfrm>
            <a:off x="5989320" y="2953512"/>
            <a:ext cx="548640" cy="548640"/>
          </a:xfrm>
          <a:prstGeom prst="ellipse">
            <a:avLst/>
          </a:prstGeom>
          <a:solidFill>
            <a:srgbClr val="1E9E6C"/>
          </a:solidFill>
          <a:ln/>
        </p:spPr>
      </p:sp>
      <p:sp>
        <p:nvSpPr>
          <p:cNvPr id="25" name="Text 19"/>
          <p:cNvSpPr/>
          <p:nvPr/>
        </p:nvSpPr>
        <p:spPr>
          <a:xfrm>
            <a:off x="5989320" y="29535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6720840" y="289864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Muthu Raman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6720840" y="324612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810 · exact trade match · same city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5852160" y="3776472"/>
            <a:ext cx="5532120" cy="868680"/>
          </a:xfrm>
          <a:prstGeom prst="roundRect">
            <a:avLst>
              <a:gd name="adj" fmla="val 8421"/>
            </a:avLst>
          </a:prstGeom>
          <a:solidFill>
            <a:srgbClr val="1E3B66"/>
          </a:solidFill>
          <a:ln/>
        </p:spPr>
      </p:sp>
      <p:sp>
        <p:nvSpPr>
          <p:cNvPr id="29" name="Shape 23"/>
          <p:cNvSpPr/>
          <p:nvPr/>
        </p:nvSpPr>
        <p:spPr>
          <a:xfrm>
            <a:off x="5989320" y="3941064"/>
            <a:ext cx="548640" cy="548640"/>
          </a:xfrm>
          <a:prstGeom prst="ellipse">
            <a:avLst/>
          </a:prstGeom>
          <a:solidFill>
            <a:srgbClr val="F2A33B"/>
          </a:solidFill>
          <a:ln/>
        </p:spPr>
      </p:sp>
      <p:sp>
        <p:nvSpPr>
          <p:cNvPr id="30" name="Text 24"/>
          <p:cNvSpPr/>
          <p:nvPr/>
        </p:nvSpPr>
        <p:spPr>
          <a:xfrm>
            <a:off x="5989320" y="394106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6720840" y="38862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 Kumar</a:t>
            </a:r>
            <a:endParaRPr lang="en-US" sz="1350" dirty="0"/>
          </a:p>
        </p:txBody>
      </p:sp>
      <p:sp>
        <p:nvSpPr>
          <p:cNvPr id="32" name="Text 26"/>
          <p:cNvSpPr/>
          <p:nvPr/>
        </p:nvSpPr>
        <p:spPr>
          <a:xfrm>
            <a:off x="6720840" y="423367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760 · related trade · nearby district</a:t>
            </a:r>
            <a:endParaRPr lang="en-US" sz="1100" dirty="0"/>
          </a:p>
        </p:txBody>
      </p:sp>
      <p:sp>
        <p:nvSpPr>
          <p:cNvPr id="33" name="Shape 27"/>
          <p:cNvSpPr/>
          <p:nvPr/>
        </p:nvSpPr>
        <p:spPr>
          <a:xfrm>
            <a:off x="5852160" y="4764024"/>
            <a:ext cx="5532120" cy="868680"/>
          </a:xfrm>
          <a:prstGeom prst="roundRect">
            <a:avLst>
              <a:gd name="adj" fmla="val 8421"/>
            </a:avLst>
          </a:prstGeom>
          <a:solidFill>
            <a:srgbClr val="1E3B66"/>
          </a:solidFill>
          <a:ln/>
        </p:spPr>
      </p:sp>
      <p:sp>
        <p:nvSpPr>
          <p:cNvPr id="34" name="Shape 28"/>
          <p:cNvSpPr/>
          <p:nvPr/>
        </p:nvSpPr>
        <p:spPr>
          <a:xfrm>
            <a:off x="5989320" y="4928616"/>
            <a:ext cx="548640" cy="548640"/>
          </a:xfrm>
          <a:prstGeom prst="ellipse">
            <a:avLst/>
          </a:prstGeom>
          <a:solidFill>
            <a:srgbClr val="F2A33B"/>
          </a:solidFill>
          <a:ln/>
        </p:spPr>
      </p:sp>
      <p:sp>
        <p:nvSpPr>
          <p:cNvPr id="35" name="Text 29"/>
          <p:cNvSpPr/>
          <p:nvPr/>
        </p:nvSpPr>
        <p:spPr>
          <a:xfrm>
            <a:off x="5989320" y="492861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</a:t>
            </a:r>
            <a:endParaRPr lang="en-US" sz="1300" dirty="0"/>
          </a:p>
        </p:txBody>
      </p:sp>
      <p:sp>
        <p:nvSpPr>
          <p:cNvPr id="36" name="Text 30"/>
          <p:cNvSpPr/>
          <p:nvPr/>
        </p:nvSpPr>
        <p:spPr>
          <a:xfrm>
            <a:off x="6720840" y="487375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Anil Mestri</a:t>
            </a:r>
            <a:endParaRPr lang="en-US" sz="1350" dirty="0"/>
          </a:p>
        </p:txBody>
      </p:sp>
      <p:sp>
        <p:nvSpPr>
          <p:cNvPr id="37" name="Text 31"/>
          <p:cNvSpPr/>
          <p:nvPr/>
        </p:nvSpPr>
        <p:spPr>
          <a:xfrm>
            <a:off x="6720840" y="5221224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640 · exact trade · language fit only</a:t>
            </a:r>
            <a:endParaRPr lang="en-US" sz="1100" dirty="0"/>
          </a:p>
        </p:txBody>
      </p:sp>
      <p:sp>
        <p:nvSpPr>
          <p:cNvPr id="38" name="Text 3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Pramaan.AI</a:t>
            </a:r>
            <a:endParaRPr lang="en-US" sz="1000" dirty="0"/>
          </a:p>
        </p:txBody>
      </p:sp>
      <p:sp>
        <p:nvSpPr>
          <p:cNvPr id="39" name="Text 3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·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Application to Hire — a low-risk funnel for both sides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2926080" cy="1371600"/>
          </a:xfrm>
          <a:prstGeom prst="roundRect">
            <a:avLst>
              <a:gd name="adj" fmla="val 6667"/>
            </a:avLst>
          </a:prstGeom>
          <a:solidFill>
            <a:srgbClr val="132A4C"/>
          </a:solidFill>
          <a:ln/>
          <a:effectLst>
            <a:outerShdw blurRad="101600" dist="25400" dir="5400000" algn="bl" rotWithShape="0">
              <a:srgbClr val="9AA5B8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2487168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367" y="2614727"/>
            <a:ext cx="311810" cy="31181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2432304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Browse &amp; Apply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49808" y="3072384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1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browses open postings and applies in one tap.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520440" y="2871216"/>
            <a:ext cx="219456" cy="201168"/>
          </a:xfrm>
          <a:prstGeom prst="rightArrow">
            <a:avLst/>
          </a:prstGeom>
          <a:solidFill>
            <a:srgbClr val="667085"/>
          </a:solidFill>
          <a:ln/>
        </p:spPr>
      </p:sp>
      <p:sp>
        <p:nvSpPr>
          <p:cNvPr id="10" name="Shape 7"/>
          <p:cNvSpPr/>
          <p:nvPr/>
        </p:nvSpPr>
        <p:spPr>
          <a:xfrm>
            <a:off x="3794760" y="228600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1E3B66"/>
          </a:solidFill>
          <a:ln/>
          <a:effectLst>
            <a:outerShdw blurRad="101600" dist="25400" dir="5400000" algn="bl" rotWithShape="0">
              <a:srgbClr val="9AA5B8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995928" y="2487168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3487" y="2614727"/>
            <a:ext cx="311810" cy="31181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63440" y="2432304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Shortlist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995928" y="3072384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1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MSME runs AI match to rank every applicant network-wide.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492240" y="2871216"/>
            <a:ext cx="219456" cy="201168"/>
          </a:xfrm>
          <a:prstGeom prst="rightArrow">
            <a:avLst/>
          </a:prstGeom>
          <a:solidFill>
            <a:srgbClr val="667085"/>
          </a:solidFill>
          <a:ln/>
        </p:spPr>
      </p:sp>
      <p:sp>
        <p:nvSpPr>
          <p:cNvPr id="16" name="Shape 12"/>
          <p:cNvSpPr/>
          <p:nvPr/>
        </p:nvSpPr>
        <p:spPr>
          <a:xfrm>
            <a:off x="6766560" y="2286000"/>
            <a:ext cx="2377440" cy="1371600"/>
          </a:xfrm>
          <a:prstGeom prst="roundRect">
            <a:avLst>
              <a:gd name="adj" fmla="val 6667"/>
            </a:avLst>
          </a:prstGeom>
          <a:solidFill>
            <a:srgbClr val="F2A33B"/>
          </a:solidFill>
          <a:ln/>
          <a:effectLst>
            <a:outerShdw blurRad="101600" dist="25400" dir="5400000" algn="bl" rotWithShape="0">
              <a:srgbClr val="9AA5B8">
                <a:alpha val="2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967728" y="2487168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5287" y="2614727"/>
            <a:ext cx="311810" cy="31181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635240" y="2432304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3-Day Trial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967728" y="3072384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1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Micro-apprenticeship / trial-to-hire before any commitment.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9189720" y="2871216"/>
            <a:ext cx="219456" cy="201168"/>
          </a:xfrm>
          <a:prstGeom prst="rightArrow">
            <a:avLst/>
          </a:prstGeom>
          <a:solidFill>
            <a:srgbClr val="667085"/>
          </a:solidFill>
          <a:ln/>
        </p:spPr>
      </p:sp>
      <p:sp>
        <p:nvSpPr>
          <p:cNvPr id="22" name="Shape 17"/>
          <p:cNvSpPr/>
          <p:nvPr/>
        </p:nvSpPr>
        <p:spPr>
          <a:xfrm>
            <a:off x="9464040" y="2286000"/>
            <a:ext cx="2103120" cy="1371600"/>
          </a:xfrm>
          <a:prstGeom prst="roundRect">
            <a:avLst>
              <a:gd name="adj" fmla="val 6667"/>
            </a:avLst>
          </a:prstGeom>
          <a:solidFill>
            <a:srgbClr val="1E9E6C"/>
          </a:solidFill>
          <a:ln/>
          <a:effectLst>
            <a:outerShdw blurRad="101600" dist="25400" dir="5400000" algn="bl" rotWithShape="0">
              <a:srgbClr val="9AA5B8">
                <a:alpha val="2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665208" y="2487168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92767" y="2614727"/>
            <a:ext cx="311810" cy="31181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0332720" y="2432304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Hire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9665208" y="3072384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1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succeeds → full offer, backed by a verified passport.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548640" y="4114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step is a real database record — not a mock</a:t>
            </a:r>
            <a:endParaRPr lang="en-US" sz="1500" dirty="0"/>
          </a:p>
        </p:txBody>
      </p:sp>
      <p:sp>
        <p:nvSpPr>
          <p:cNvPr id="28" name="Shape 22"/>
          <p:cNvSpPr/>
          <p:nvPr/>
        </p:nvSpPr>
        <p:spPr>
          <a:xfrm>
            <a:off x="548640" y="4617720"/>
            <a:ext cx="356616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E4E7EE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777240" y="4846320"/>
            <a:ext cx="502920" cy="502920"/>
          </a:xfrm>
          <a:prstGeom prst="ellipse">
            <a:avLst/>
          </a:prstGeom>
          <a:solidFill>
            <a:srgbClr val="132A4C"/>
          </a:solidFill>
          <a:ln/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0397" y="4959477"/>
            <a:ext cx="276606" cy="276606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463040" y="481888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applications</a:t>
            </a:r>
            <a:endParaRPr lang="en-US" sz="1400" dirty="0"/>
          </a:p>
        </p:txBody>
      </p:sp>
      <p:sp>
        <p:nvSpPr>
          <p:cNvPr id="32" name="Text 25"/>
          <p:cNvSpPr/>
          <p:nvPr/>
        </p:nvSpPr>
        <p:spPr>
          <a:xfrm>
            <a:off x="822960" y="53949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'applied'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4343400" y="4617720"/>
            <a:ext cx="356616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E4E7EE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4572000" y="4846320"/>
            <a:ext cx="502920" cy="502920"/>
          </a:xfrm>
          <a:prstGeom prst="ellipse">
            <a:avLst/>
          </a:prstGeom>
          <a:solidFill>
            <a:srgbClr val="132A4C"/>
          </a:solidFill>
          <a:ln/>
        </p:spPr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85157" y="4959477"/>
            <a:ext cx="276606" cy="276606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5257800" y="481888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trials</a:t>
            </a:r>
            <a:endParaRPr lang="en-US" sz="1400" dirty="0"/>
          </a:p>
        </p:txBody>
      </p:sp>
      <p:sp>
        <p:nvSpPr>
          <p:cNvPr id="37" name="Text 29"/>
          <p:cNvSpPr/>
          <p:nvPr/>
        </p:nvSpPr>
        <p:spPr>
          <a:xfrm>
            <a:off x="4617720" y="53949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'in_progress'</a:t>
            </a:r>
            <a:endParaRPr lang="en-US" sz="1100" dirty="0"/>
          </a:p>
        </p:txBody>
      </p:sp>
      <p:sp>
        <p:nvSpPr>
          <p:cNvPr id="38" name="Shape 30"/>
          <p:cNvSpPr/>
          <p:nvPr/>
        </p:nvSpPr>
        <p:spPr>
          <a:xfrm>
            <a:off x="8138160" y="4617720"/>
            <a:ext cx="356616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E4E7EE"/>
            </a:solidFill>
            <a:prstDash val="solid"/>
          </a:ln>
        </p:spPr>
      </p:sp>
      <p:sp>
        <p:nvSpPr>
          <p:cNvPr id="39" name="Shape 31"/>
          <p:cNvSpPr/>
          <p:nvPr/>
        </p:nvSpPr>
        <p:spPr>
          <a:xfrm>
            <a:off x="8366760" y="4846320"/>
            <a:ext cx="502920" cy="502920"/>
          </a:xfrm>
          <a:prstGeom prst="ellipse">
            <a:avLst/>
          </a:prstGeom>
          <a:solidFill>
            <a:srgbClr val="132A4C"/>
          </a:solidFill>
          <a:ln/>
        </p:spPr>
      </p:sp>
      <p:pic>
        <p:nvPicPr>
          <p:cNvPr id="40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9917" y="4959477"/>
            <a:ext cx="276606" cy="276606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9052560" y="481888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workers</a:t>
            </a:r>
            <a:endParaRPr lang="en-US" sz="1400" dirty="0"/>
          </a:p>
        </p:txBody>
      </p:sp>
      <p:sp>
        <p:nvSpPr>
          <p:cNvPr id="42" name="Text 33"/>
          <p:cNvSpPr/>
          <p:nvPr/>
        </p:nvSpPr>
        <p:spPr>
          <a:xfrm>
            <a:off x="8412480" y="53949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passport referenced</a:t>
            </a:r>
            <a:endParaRPr lang="en-US" sz="1100" dirty="0"/>
          </a:p>
        </p:txBody>
      </p:sp>
      <p:sp>
        <p:nvSpPr>
          <p:cNvPr id="43" name="Text 3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Pramaan.AI</a:t>
            </a:r>
            <a:endParaRPr lang="en-US" sz="1000" dirty="0"/>
          </a:p>
        </p:txBody>
      </p:sp>
      <p:sp>
        <p:nvSpPr>
          <p:cNvPr id="44" name="Text 3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cloud AI to Pramaan’s own fine-tuned model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four tasks — grading, capsules, resumes, matching — can run entirely offline on a model fine-tuned on real usage.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515258" cy="1691640"/>
          </a:xfrm>
          <a:prstGeom prst="roundRect">
            <a:avLst>
              <a:gd name="adj" fmla="val 4865"/>
            </a:avLst>
          </a:prstGeom>
          <a:solidFill>
            <a:srgbClr val="1E3B66"/>
          </a:solidFill>
          <a:ln w="12700">
            <a:solidFill>
              <a:srgbClr val="2C4B7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2304288"/>
            <a:ext cx="457200" cy="457200"/>
          </a:xfrm>
          <a:prstGeom prst="ellipse">
            <a:avLst/>
          </a:prstGeom>
          <a:solidFill>
            <a:srgbClr val="F2A33B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23042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C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05530" y="2249424"/>
            <a:ext cx="502920" cy="502920"/>
          </a:xfrm>
          <a:prstGeom prst="ellipse">
            <a:avLst/>
          </a:prstGeom>
          <a:solidFill>
            <a:srgbClr val="2C4B7C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8687" y="2362581"/>
            <a:ext cx="276606" cy="27660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49808" y="2852928"/>
            <a:ext cx="311292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Seed Data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749808" y="3200400"/>
            <a:ext cx="311292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hand-written examples covering all 4 tasks.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338218" y="2103120"/>
            <a:ext cx="3515258" cy="1691640"/>
          </a:xfrm>
          <a:prstGeom prst="roundRect">
            <a:avLst>
              <a:gd name="adj" fmla="val 4865"/>
            </a:avLst>
          </a:prstGeom>
          <a:solidFill>
            <a:srgbClr val="1E3B66"/>
          </a:solidFill>
          <a:ln w="12700">
            <a:solidFill>
              <a:srgbClr val="2C4B7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39386" y="2304288"/>
            <a:ext cx="457200" cy="457200"/>
          </a:xfrm>
          <a:prstGeom prst="ellipse">
            <a:avLst/>
          </a:prstGeom>
          <a:solidFill>
            <a:srgbClr val="F2A33B"/>
          </a:solidFill>
          <a:ln/>
        </p:spPr>
      </p:sp>
      <p:sp>
        <p:nvSpPr>
          <p:cNvPr id="14" name="Text 11"/>
          <p:cNvSpPr/>
          <p:nvPr/>
        </p:nvSpPr>
        <p:spPr>
          <a:xfrm>
            <a:off x="4539386" y="23042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C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195109" y="2249424"/>
            <a:ext cx="502920" cy="502920"/>
          </a:xfrm>
          <a:prstGeom prst="ellipse">
            <a:avLst/>
          </a:prstGeom>
          <a:solidFill>
            <a:srgbClr val="2C4B7C"/>
          </a:solidFill>
          <a:ln/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8266" y="2362581"/>
            <a:ext cx="276606" cy="27660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539386" y="2852928"/>
            <a:ext cx="311292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Logging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4539386" y="3200400"/>
            <a:ext cx="311292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cloud calls logged as free training data.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8127797" y="2103120"/>
            <a:ext cx="3515258" cy="1691640"/>
          </a:xfrm>
          <a:prstGeom prst="roundRect">
            <a:avLst>
              <a:gd name="adj" fmla="val 4865"/>
            </a:avLst>
          </a:prstGeom>
          <a:solidFill>
            <a:srgbClr val="1E3B66"/>
          </a:solidFill>
          <a:ln w="12700">
            <a:solidFill>
              <a:srgbClr val="2C4B7C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328965" y="2304288"/>
            <a:ext cx="457200" cy="457200"/>
          </a:xfrm>
          <a:prstGeom prst="ellipse">
            <a:avLst/>
          </a:prstGeom>
          <a:solidFill>
            <a:srgbClr val="F2A33B"/>
          </a:solidFill>
          <a:ln/>
        </p:spPr>
      </p:sp>
      <p:sp>
        <p:nvSpPr>
          <p:cNvPr id="21" name="Text 17"/>
          <p:cNvSpPr/>
          <p:nvPr/>
        </p:nvSpPr>
        <p:spPr>
          <a:xfrm>
            <a:off x="8328965" y="23042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C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10984687" y="2249424"/>
            <a:ext cx="502920" cy="502920"/>
          </a:xfrm>
          <a:prstGeom prst="ellipse">
            <a:avLst/>
          </a:prstGeom>
          <a:solidFill>
            <a:srgbClr val="2C4B7C"/>
          </a:solidFill>
          <a:ln/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97844" y="2362581"/>
            <a:ext cx="276606" cy="276606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328965" y="2852928"/>
            <a:ext cx="311292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Merge Dataset</a:t>
            </a:r>
            <a:endParaRPr lang="en-US" sz="1350" dirty="0"/>
          </a:p>
        </p:txBody>
      </p:sp>
      <p:sp>
        <p:nvSpPr>
          <p:cNvPr id="25" name="Text 20"/>
          <p:cNvSpPr/>
          <p:nvPr/>
        </p:nvSpPr>
        <p:spPr>
          <a:xfrm>
            <a:off x="8328965" y="3200400"/>
            <a:ext cx="311292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+ logs merged into train.jsonl.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548640" y="4069080"/>
            <a:ext cx="3515258" cy="1691640"/>
          </a:xfrm>
          <a:prstGeom prst="roundRect">
            <a:avLst>
              <a:gd name="adj" fmla="val 4865"/>
            </a:avLst>
          </a:prstGeom>
          <a:solidFill>
            <a:srgbClr val="1E3B66"/>
          </a:solidFill>
          <a:ln w="12700">
            <a:solidFill>
              <a:srgbClr val="2C4B7C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49808" y="4270248"/>
            <a:ext cx="457200" cy="457200"/>
          </a:xfrm>
          <a:prstGeom prst="ellipse">
            <a:avLst/>
          </a:prstGeom>
          <a:solidFill>
            <a:srgbClr val="F2A33B"/>
          </a:solidFill>
          <a:ln/>
        </p:spPr>
      </p:sp>
      <p:sp>
        <p:nvSpPr>
          <p:cNvPr id="28" name="Text 23"/>
          <p:cNvSpPr/>
          <p:nvPr/>
        </p:nvSpPr>
        <p:spPr>
          <a:xfrm>
            <a:off x="749808" y="42702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C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Shape 24"/>
          <p:cNvSpPr/>
          <p:nvPr/>
        </p:nvSpPr>
        <p:spPr>
          <a:xfrm>
            <a:off x="3405530" y="4215384"/>
            <a:ext cx="502920" cy="502920"/>
          </a:xfrm>
          <a:prstGeom prst="ellipse">
            <a:avLst/>
          </a:prstGeom>
          <a:solidFill>
            <a:srgbClr val="2C4B7C"/>
          </a:solidFill>
          <a:ln/>
        </p:spPr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18687" y="4328541"/>
            <a:ext cx="276606" cy="276606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749808" y="4818888"/>
            <a:ext cx="311292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QLoRA Fine-Tune</a:t>
            </a:r>
            <a:endParaRPr lang="en-US" sz="1350" dirty="0"/>
          </a:p>
        </p:txBody>
      </p:sp>
      <p:sp>
        <p:nvSpPr>
          <p:cNvPr id="32" name="Text 26"/>
          <p:cNvSpPr/>
          <p:nvPr/>
        </p:nvSpPr>
        <p:spPr>
          <a:xfrm>
            <a:off x="749808" y="5166360"/>
            <a:ext cx="311292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Qwen2.5-3B tuned on a single consumer GPU.</a:t>
            </a:r>
            <a:endParaRPr lang="en-US" sz="1050" dirty="0"/>
          </a:p>
        </p:txBody>
      </p:sp>
      <p:sp>
        <p:nvSpPr>
          <p:cNvPr id="33" name="Shape 27"/>
          <p:cNvSpPr/>
          <p:nvPr/>
        </p:nvSpPr>
        <p:spPr>
          <a:xfrm>
            <a:off x="4338218" y="4069080"/>
            <a:ext cx="3515258" cy="1691640"/>
          </a:xfrm>
          <a:prstGeom prst="roundRect">
            <a:avLst>
              <a:gd name="adj" fmla="val 4865"/>
            </a:avLst>
          </a:prstGeom>
          <a:solidFill>
            <a:srgbClr val="1E3B66"/>
          </a:solidFill>
          <a:ln w="12700">
            <a:solidFill>
              <a:srgbClr val="2C4B7C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4539386" y="4270248"/>
            <a:ext cx="457200" cy="457200"/>
          </a:xfrm>
          <a:prstGeom prst="ellipse">
            <a:avLst/>
          </a:prstGeom>
          <a:solidFill>
            <a:srgbClr val="F2A33B"/>
          </a:solidFill>
          <a:ln/>
        </p:spPr>
      </p:sp>
      <p:sp>
        <p:nvSpPr>
          <p:cNvPr id="35" name="Text 29"/>
          <p:cNvSpPr/>
          <p:nvPr/>
        </p:nvSpPr>
        <p:spPr>
          <a:xfrm>
            <a:off x="4539386" y="42702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C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36" name="Shape 30"/>
          <p:cNvSpPr/>
          <p:nvPr/>
        </p:nvSpPr>
        <p:spPr>
          <a:xfrm>
            <a:off x="7195109" y="4215384"/>
            <a:ext cx="502920" cy="502920"/>
          </a:xfrm>
          <a:prstGeom prst="ellipse">
            <a:avLst/>
          </a:prstGeom>
          <a:solidFill>
            <a:srgbClr val="2C4B7C"/>
          </a:solidFill>
          <a:ln/>
        </p:spPr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08266" y="4328541"/>
            <a:ext cx="276606" cy="276606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4539386" y="4818888"/>
            <a:ext cx="311292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Quantize &amp; Export</a:t>
            </a:r>
            <a:endParaRPr lang="en-US" sz="1350" dirty="0"/>
          </a:p>
        </p:txBody>
      </p:sp>
      <p:sp>
        <p:nvSpPr>
          <p:cNvPr id="39" name="Text 32"/>
          <p:cNvSpPr/>
          <p:nvPr/>
        </p:nvSpPr>
        <p:spPr>
          <a:xfrm>
            <a:off x="4539386" y="5166360"/>
            <a:ext cx="311292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GGUF export, registered into Ollama.</a:t>
            </a:r>
            <a:endParaRPr lang="en-US" sz="1050" dirty="0"/>
          </a:p>
        </p:txBody>
      </p:sp>
      <p:sp>
        <p:nvSpPr>
          <p:cNvPr id="40" name="Shape 33"/>
          <p:cNvSpPr/>
          <p:nvPr/>
        </p:nvSpPr>
        <p:spPr>
          <a:xfrm>
            <a:off x="8127797" y="4069080"/>
            <a:ext cx="3515258" cy="1691640"/>
          </a:xfrm>
          <a:prstGeom prst="roundRect">
            <a:avLst>
              <a:gd name="adj" fmla="val 4865"/>
            </a:avLst>
          </a:prstGeom>
          <a:solidFill>
            <a:srgbClr val="1E3B66"/>
          </a:solidFill>
          <a:ln w="12700">
            <a:solidFill>
              <a:srgbClr val="2C4B7C"/>
            </a:solidFill>
            <a:prstDash val="solid"/>
          </a:ln>
        </p:spPr>
      </p:sp>
      <p:sp>
        <p:nvSpPr>
          <p:cNvPr id="41" name="Shape 34"/>
          <p:cNvSpPr/>
          <p:nvPr/>
        </p:nvSpPr>
        <p:spPr>
          <a:xfrm>
            <a:off x="8328965" y="4270248"/>
            <a:ext cx="457200" cy="457200"/>
          </a:xfrm>
          <a:prstGeom prst="ellipse">
            <a:avLst/>
          </a:prstGeom>
          <a:solidFill>
            <a:srgbClr val="F2A33B"/>
          </a:solidFill>
          <a:ln/>
        </p:spPr>
      </p:sp>
      <p:sp>
        <p:nvSpPr>
          <p:cNvPr id="42" name="Text 35"/>
          <p:cNvSpPr/>
          <p:nvPr/>
        </p:nvSpPr>
        <p:spPr>
          <a:xfrm>
            <a:off x="8328965" y="42702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C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43" name="Shape 36"/>
          <p:cNvSpPr/>
          <p:nvPr/>
        </p:nvSpPr>
        <p:spPr>
          <a:xfrm>
            <a:off x="10984687" y="4215384"/>
            <a:ext cx="502920" cy="502920"/>
          </a:xfrm>
          <a:prstGeom prst="ellipse">
            <a:avLst/>
          </a:prstGeom>
          <a:solidFill>
            <a:srgbClr val="2C4B7C"/>
          </a:solidFill>
          <a:ln/>
        </p:spPr>
      </p:sp>
      <p:pic>
        <p:nvPicPr>
          <p:cNvPr id="4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97844" y="4328541"/>
            <a:ext cx="276606" cy="276606"/>
          </a:xfrm>
          <a:prstGeom prst="rect">
            <a:avLst/>
          </a:prstGeom>
        </p:spPr>
      </p:pic>
      <p:sp>
        <p:nvSpPr>
          <p:cNvPr id="45" name="Text 37"/>
          <p:cNvSpPr/>
          <p:nvPr/>
        </p:nvSpPr>
        <p:spPr>
          <a:xfrm>
            <a:off x="8328965" y="4818888"/>
            <a:ext cx="311292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 Locally</a:t>
            </a:r>
            <a:endParaRPr lang="en-US" sz="1350" dirty="0"/>
          </a:p>
        </p:txBody>
      </p:sp>
      <p:sp>
        <p:nvSpPr>
          <p:cNvPr id="46" name="Text 38"/>
          <p:cNvSpPr/>
          <p:nvPr/>
        </p:nvSpPr>
        <p:spPr>
          <a:xfrm>
            <a:off x="8328965" y="5166360"/>
            <a:ext cx="311292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"setu-ai" model — zero cloud dependency.</a:t>
            </a:r>
            <a:endParaRPr lang="en-US" sz="1050" dirty="0"/>
          </a:p>
        </p:txBody>
      </p:sp>
      <p:sp>
        <p:nvSpPr>
          <p:cNvPr id="47" name="Text 39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849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providers implement the identical callClaudeJSON() interface — switching is one .env line, zero code changes.</a:t>
            </a:r>
            <a:endParaRPr lang="en-US" sz="1150" dirty="0"/>
          </a:p>
        </p:txBody>
      </p:sp>
      <p:sp>
        <p:nvSpPr>
          <p:cNvPr id="48" name="Text 4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Pramaan.AI</a:t>
            </a:r>
            <a:endParaRPr lang="en-US" sz="1000" dirty="0"/>
          </a:p>
        </p:txBody>
      </p:sp>
      <p:sp>
        <p:nvSpPr>
          <p:cNvPr id="49" name="Text 4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Simple, provable, and honest about its limits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15258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4E7EE"/>
            </a:solidFill>
            <a:prstDash val="solid"/>
          </a:ln>
          <a:effectLst>
            <a:outerShdw blurRad="101600" dist="25400" dir="5400000" algn="bl" rotWithShape="0">
              <a:srgbClr val="9AA5B8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240280"/>
            <a:ext cx="658368" cy="658368"/>
          </a:xfrm>
          <a:prstGeom prst="ellipse">
            <a:avLst/>
          </a:prstGeom>
          <a:solidFill>
            <a:srgbClr val="132A4C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2404872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221992"/>
            <a:ext cx="22350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+ Vite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3017520"/>
            <a:ext cx="296661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Single-page frontend, i18n in 3 languages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38218" y="1965960"/>
            <a:ext cx="3515258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4E7EE"/>
            </a:solidFill>
            <a:prstDash val="solid"/>
          </a:ln>
          <a:effectLst>
            <a:outerShdw blurRad="101600" dist="25400" dir="5400000" algn="bl" rotWithShape="0">
              <a:srgbClr val="9AA5B8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12538" y="2240280"/>
            <a:ext cx="658368" cy="658368"/>
          </a:xfrm>
          <a:prstGeom prst="ellipse">
            <a:avLst/>
          </a:prstGeom>
          <a:solidFill>
            <a:srgbClr val="1E3B66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7130" y="2404872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35498" y="2221992"/>
            <a:ext cx="22350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Express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612538" y="3017520"/>
            <a:ext cx="296661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API, role-gated middleware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27797" y="1965960"/>
            <a:ext cx="3515258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4E7EE"/>
            </a:solidFill>
            <a:prstDash val="solid"/>
          </a:ln>
          <a:effectLst>
            <a:outerShdw blurRad="101600" dist="25400" dir="5400000" algn="bl" rotWithShape="0">
              <a:srgbClr val="9AA5B8">
                <a:alpha val="2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02117" y="2240280"/>
            <a:ext cx="658368" cy="658368"/>
          </a:xfrm>
          <a:prstGeom prst="ellipse">
            <a:avLst/>
          </a:prstGeom>
          <a:solidFill>
            <a:srgbClr val="1E9E6C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66709" y="2404872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225077" y="2221992"/>
            <a:ext cx="22350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SQLite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402117" y="3017520"/>
            <a:ext cx="296661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better-sqlite3 — one file, zero services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4251960"/>
            <a:ext cx="3515258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4E7EE"/>
            </a:solidFill>
            <a:prstDash val="solid"/>
          </a:ln>
          <a:effectLst>
            <a:outerShdw blurRad="101600" dist="25400" dir="5400000" algn="bl" rotWithShape="0">
              <a:srgbClr val="9AA5B8">
                <a:alpha val="2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22960" y="4526280"/>
            <a:ext cx="658368" cy="658368"/>
          </a:xfrm>
          <a:prstGeom prst="ellipse">
            <a:avLst/>
          </a:prstGeom>
          <a:solidFill>
            <a:srgbClr val="F2A33B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7552" y="4690872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45920" y="4507992"/>
            <a:ext cx="22350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bcrypt + JWT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822960" y="5303520"/>
            <a:ext cx="296661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Hashed passwords, short-lived sessions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38218" y="4251960"/>
            <a:ext cx="3515258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4E7EE"/>
            </a:solidFill>
            <a:prstDash val="solid"/>
          </a:ln>
          <a:effectLst>
            <a:outerShdw blurRad="101600" dist="25400" dir="5400000" algn="bl" rotWithShape="0">
              <a:srgbClr val="9AA5B8">
                <a:alpha val="2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12538" y="4526280"/>
            <a:ext cx="658368" cy="658368"/>
          </a:xfrm>
          <a:prstGeom prst="ellipse">
            <a:avLst/>
          </a:prstGeom>
          <a:solidFill>
            <a:srgbClr val="132A4C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77130" y="4690872"/>
            <a:ext cx="329184" cy="32918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435498" y="4507992"/>
            <a:ext cx="22350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Anthropic API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612538" y="5303520"/>
            <a:ext cx="296661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Cloud-grade grading &amp; generation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127797" y="4251960"/>
            <a:ext cx="3515258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4E7EE"/>
            </a:solidFill>
            <a:prstDash val="solid"/>
          </a:ln>
          <a:effectLst>
            <a:outerShdw blurRad="101600" dist="25400" dir="5400000" algn="bl" rotWithShape="0">
              <a:srgbClr val="9AA5B8">
                <a:alpha val="2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402117" y="4526280"/>
            <a:ext cx="658368" cy="658368"/>
          </a:xfrm>
          <a:prstGeom prst="ellipse">
            <a:avLst/>
          </a:prstGeom>
          <a:solidFill>
            <a:srgbClr val="1E9E6C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66709" y="4690872"/>
            <a:ext cx="329184" cy="32918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225077" y="4507992"/>
            <a:ext cx="22350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Qwen2.5 + Ollama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8402117" y="5303520"/>
            <a:ext cx="296661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fine-tuned model, fully offline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Pramaan.AI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database is the pitch, written as a schema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697480" cy="3291840"/>
          </a:xfrm>
          <a:prstGeom prst="roundRect">
            <a:avLst>
              <a:gd name="adj" fmla="val 3390"/>
            </a:avLst>
          </a:prstGeom>
          <a:solidFill>
            <a:srgbClr val="132A4C"/>
          </a:solidFill>
          <a:ln/>
          <a:effectLst>
            <a:outerShdw blurRad="101600" dist="25400" dir="5400000" algn="bl" rotWithShape="0">
              <a:srgbClr val="9AA5B8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33172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830" y="2480310"/>
            <a:ext cx="297180" cy="2971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0632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workers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7240" y="3401568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skill passport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77240" y="3794760"/>
            <a:ext cx="2240280" cy="0"/>
          </a:xfrm>
          <a:prstGeom prst="line">
            <a:avLst/>
          </a:prstGeom>
          <a:noFill/>
          <a:ln w="9525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393192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1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· score · level · strengths · gaps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447288" y="2103120"/>
            <a:ext cx="2697480" cy="3291840"/>
          </a:xfrm>
          <a:prstGeom prst="roundRect">
            <a:avLst>
              <a:gd name="adj" fmla="val 3390"/>
            </a:avLst>
          </a:prstGeom>
          <a:solidFill>
            <a:srgbClr val="1E3B66"/>
          </a:solidFill>
          <a:ln/>
          <a:effectLst>
            <a:outerShdw blurRad="101600" dist="25400" dir="5400000" algn="bl" rotWithShape="0">
              <a:srgbClr val="9AA5B8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75888" y="233172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4478" y="2480310"/>
            <a:ext cx="297180" cy="2971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75888" y="30632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jobs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75888" y="3401568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demand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3675888" y="3794760"/>
            <a:ext cx="2240280" cy="0"/>
          </a:xfrm>
          <a:prstGeom prst="line">
            <a:avLst/>
          </a:prstGeom>
          <a:noFill/>
          <a:ln w="9525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675888" y="393192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1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· skills needed · steps · quiz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3346704" y="3749040"/>
            <a:ext cx="0" cy="0"/>
          </a:xfrm>
          <a:prstGeom prst="line">
            <a:avLst/>
          </a:prstGeom>
          <a:noFill/>
          <a:ln/>
        </p:spPr>
      </p:sp>
      <p:sp>
        <p:nvSpPr>
          <p:cNvPr id="19" name="Shape 15"/>
          <p:cNvSpPr/>
          <p:nvPr/>
        </p:nvSpPr>
        <p:spPr>
          <a:xfrm>
            <a:off x="6345936" y="2103120"/>
            <a:ext cx="2697480" cy="3291840"/>
          </a:xfrm>
          <a:prstGeom prst="roundRect">
            <a:avLst>
              <a:gd name="adj" fmla="val 3390"/>
            </a:avLst>
          </a:prstGeom>
          <a:solidFill>
            <a:srgbClr val="F2A33B"/>
          </a:solidFill>
          <a:ln/>
          <a:effectLst>
            <a:outerShdw blurRad="101600" dist="25400" dir="5400000" algn="bl" rotWithShape="0">
              <a:srgbClr val="9AA5B8">
                <a:alpha val="2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574536" y="233172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3126" y="2480310"/>
            <a:ext cx="297180" cy="29718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574536" y="30632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applications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6574536" y="3401568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hiring funnel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6574536" y="3794760"/>
            <a:ext cx="2240280" cy="0"/>
          </a:xfrm>
          <a:prstGeom prst="line">
            <a:avLst/>
          </a:prstGeom>
          <a:noFill/>
          <a:ln w="9525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6574536" y="393192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1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job_id · worker · status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6245352" y="3749040"/>
            <a:ext cx="0" cy="0"/>
          </a:xfrm>
          <a:prstGeom prst="line">
            <a:avLst/>
          </a:prstGeom>
          <a:noFill/>
          <a:ln/>
        </p:spPr>
      </p:sp>
      <p:sp>
        <p:nvSpPr>
          <p:cNvPr id="27" name="Shape 22"/>
          <p:cNvSpPr/>
          <p:nvPr/>
        </p:nvSpPr>
        <p:spPr>
          <a:xfrm>
            <a:off x="9244584" y="2103120"/>
            <a:ext cx="2697480" cy="3291840"/>
          </a:xfrm>
          <a:prstGeom prst="roundRect">
            <a:avLst>
              <a:gd name="adj" fmla="val 3390"/>
            </a:avLst>
          </a:prstGeom>
          <a:solidFill>
            <a:srgbClr val="1E9E6C"/>
          </a:solidFill>
          <a:ln/>
          <a:effectLst>
            <a:outerShdw blurRad="101600" dist="25400" dir="5400000" algn="bl" rotWithShape="0">
              <a:srgbClr val="9AA5B8">
                <a:alpha val="25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9473184" y="233172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21774" y="2480310"/>
            <a:ext cx="297180" cy="29718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9473184" y="30632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trials</a:t>
            </a:r>
            <a:endParaRPr lang="en-US" sz="1600" dirty="0"/>
          </a:p>
        </p:txBody>
      </p:sp>
      <p:sp>
        <p:nvSpPr>
          <p:cNvPr id="31" name="Text 25"/>
          <p:cNvSpPr/>
          <p:nvPr/>
        </p:nvSpPr>
        <p:spPr>
          <a:xfrm>
            <a:off x="9473184" y="3401568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trial-to-hire</a:t>
            </a:r>
            <a:endParaRPr lang="en-US" sz="1050" dirty="0"/>
          </a:p>
        </p:txBody>
      </p:sp>
      <p:sp>
        <p:nvSpPr>
          <p:cNvPr id="32" name="Shape 26"/>
          <p:cNvSpPr/>
          <p:nvPr/>
        </p:nvSpPr>
        <p:spPr>
          <a:xfrm>
            <a:off x="9473184" y="3794760"/>
            <a:ext cx="2240280" cy="0"/>
          </a:xfrm>
          <a:prstGeom prst="line">
            <a:avLst/>
          </a:prstGeom>
          <a:noFill/>
          <a:ln w="9525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9473184" y="393192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1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job_id · worker_id · status</a:t>
            </a:r>
            <a:endParaRPr lang="en-US" sz="1050" dirty="0"/>
          </a:p>
        </p:txBody>
      </p:sp>
      <p:sp>
        <p:nvSpPr>
          <p:cNvPr id="34" name="Shape 28"/>
          <p:cNvSpPr/>
          <p:nvPr/>
        </p:nvSpPr>
        <p:spPr>
          <a:xfrm>
            <a:off x="9144000" y="3749040"/>
            <a:ext cx="0" cy="0"/>
          </a:xfrm>
          <a:prstGeom prst="line">
            <a:avLst/>
          </a:prstGeom>
          <a:noFill/>
          <a:ln/>
        </p:spPr>
      </p:sp>
      <p:sp>
        <p:nvSpPr>
          <p:cNvPr id="35" name="Text 29"/>
          <p:cNvSpPr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→ authenticates both roles (worker / msme) with bcrypt-hashed passwords and JWT sessions, enforced server-side.</a:t>
            </a:r>
            <a:endParaRPr lang="en-US" sz="1250" dirty="0"/>
          </a:p>
        </p:txBody>
      </p:sp>
      <p:sp>
        <p:nvSpPr>
          <p:cNvPr id="36" name="Text 3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Pramaan.AI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TRUST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 be trusted, not just demoed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352044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4E7EE"/>
            </a:solidFill>
            <a:prstDash val="solid"/>
          </a:ln>
          <a:effectLst>
            <a:outerShdw blurRad="101600" dist="25400" dir="5400000" algn="bl" rotWithShape="0">
              <a:srgbClr val="9AA5B8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395728"/>
            <a:ext cx="777240" cy="777240"/>
          </a:xfrm>
          <a:prstGeom prst="ellipse">
            <a:avLst/>
          </a:prstGeom>
          <a:solidFill>
            <a:srgbClr val="132A4C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558" y="2590038"/>
            <a:ext cx="388620" cy="3886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1248" y="3401568"/>
            <a:ext cx="29352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7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authentication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841248" y="3886200"/>
            <a:ext cx="293522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bcrypt-hashed passwords and configurable, short-lived JWT sessions — not hidden client-side checks.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25112" y="2103120"/>
            <a:ext cx="352044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4E7EE"/>
            </a:solidFill>
            <a:prstDash val="solid"/>
          </a:ln>
          <a:effectLst>
            <a:outerShdw blurRad="101600" dist="25400" dir="5400000" algn="bl" rotWithShape="0">
              <a:srgbClr val="9AA5B8">
                <a:alpha val="2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17720" y="2395728"/>
            <a:ext cx="777240" cy="777240"/>
          </a:xfrm>
          <a:prstGeom prst="ellipse">
            <a:avLst/>
          </a:prstGeom>
          <a:solidFill>
            <a:srgbClr val="132A4C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2030" y="2590038"/>
            <a:ext cx="388620" cy="3886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17720" y="3401568"/>
            <a:ext cx="29352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7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Server-enforced roles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4617720" y="3886200"/>
            <a:ext cx="293522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vs MSME permissions are checked in Express middleware, never trusted from the UI alone.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01584" y="2103120"/>
            <a:ext cx="352044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4E7EE"/>
            </a:solidFill>
            <a:prstDash val="solid"/>
          </a:ln>
          <a:effectLst>
            <a:outerShdw blurRad="101600" dist="25400" dir="5400000" algn="bl" rotWithShape="0">
              <a:srgbClr val="9AA5B8">
                <a:alpha val="2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94192" y="2395728"/>
            <a:ext cx="777240" cy="777240"/>
          </a:xfrm>
          <a:prstGeom prst="ellipse">
            <a:avLst/>
          </a:prstGeom>
          <a:solidFill>
            <a:srgbClr val="132A4C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8502" y="2590038"/>
            <a:ext cx="388620" cy="3886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94192" y="3401568"/>
            <a:ext cx="29352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7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 by design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8394192" y="3886200"/>
            <a:ext cx="293522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local mode, worker data never leaves the server — a genuine offline option, not just a cost saving.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5532120"/>
            <a:ext cx="11064240" cy="594360"/>
          </a:xfrm>
          <a:prstGeom prst="roundRect">
            <a:avLst>
              <a:gd name="adj" fmla="val 12308"/>
            </a:avLst>
          </a:prstGeom>
          <a:solidFill>
            <a:srgbClr val="D8543F">
              <a:alpha val="92000"/>
            </a:srgbClr>
          </a:solidFill>
          <a:ln/>
        </p:spPr>
      </p:sp>
      <p:sp>
        <p:nvSpPr>
          <p:cNvPr id="20" name="Text 15"/>
          <p:cNvSpPr/>
          <p:nvPr/>
        </p:nvSpPr>
        <p:spPr>
          <a:xfrm>
            <a:off x="777240" y="5532120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about scope: hackathon prototype today — rate limiting, HTTPS termination and secret rotation are the next steps before production traffic.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Pramaan.AI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32A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national scale, not a single city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1E3B66"/>
          </a:solidFill>
          <a:ln w="12700">
            <a:solidFill>
              <a:srgbClr val="2C4B7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77340" y="2560320"/>
            <a:ext cx="548640" cy="548640"/>
          </a:xfrm>
          <a:prstGeom prst="ellipse">
            <a:avLst/>
          </a:prstGeom>
          <a:solidFill>
            <a:srgbClr val="F2A33B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0784" y="268376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24612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90%+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731520" y="393192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India’s workforce is informal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383280" y="228600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1E3B66"/>
          </a:solidFill>
          <a:ln w="12700">
            <a:solidFill>
              <a:srgbClr val="2C4B7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411980" y="2560320"/>
            <a:ext cx="548640" cy="548640"/>
          </a:xfrm>
          <a:prstGeom prst="ellipse">
            <a:avLst/>
          </a:prstGeom>
          <a:solidFill>
            <a:srgbClr val="F2A33B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5424" y="2683764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20440" y="324612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60M+</a:t>
            </a:r>
            <a:endParaRPr lang="en-US" sz="3400" dirty="0"/>
          </a:p>
        </p:txBody>
      </p:sp>
      <p:sp>
        <p:nvSpPr>
          <p:cNvPr id="13" name="Text 9"/>
          <p:cNvSpPr/>
          <p:nvPr/>
        </p:nvSpPr>
        <p:spPr>
          <a:xfrm>
            <a:off x="3566160" y="393192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MSMEs are the real hiring engine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217920" y="228600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1E3B66"/>
          </a:solidFill>
          <a:ln w="12700">
            <a:solidFill>
              <a:srgbClr val="2C4B7C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246620" y="2560320"/>
            <a:ext cx="548640" cy="548640"/>
          </a:xfrm>
          <a:prstGeom prst="ellipse">
            <a:avLst/>
          </a:prstGeom>
          <a:solidFill>
            <a:srgbClr val="F2A33B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0064" y="2683764"/>
            <a:ext cx="301752" cy="30175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55080" y="324612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18" name="Text 13"/>
          <p:cNvSpPr/>
          <p:nvPr/>
        </p:nvSpPr>
        <p:spPr>
          <a:xfrm>
            <a:off x="6400800" y="393192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 served today — more are one prompt away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052560" y="228600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1E3B66"/>
          </a:solidFill>
          <a:ln w="12700">
            <a:solidFill>
              <a:srgbClr val="2C4B7C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10081260" y="2560320"/>
            <a:ext cx="548640" cy="548640"/>
          </a:xfrm>
          <a:prstGeom prst="ellipse">
            <a:avLst/>
          </a:prstGeom>
          <a:solidFill>
            <a:srgbClr val="F2A33B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04704" y="2683764"/>
            <a:ext cx="301752" cy="30175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89720" y="324612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0–900</a:t>
            </a:r>
            <a:endParaRPr lang="en-US" sz="3400" dirty="0"/>
          </a:p>
        </p:txBody>
      </p:sp>
      <p:sp>
        <p:nvSpPr>
          <p:cNvPr id="23" name="Text 17"/>
          <p:cNvSpPr/>
          <p:nvPr/>
        </p:nvSpPr>
        <p:spPr>
          <a:xfrm>
            <a:off x="9235440" y="393192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Skill Credit Score, common across every trade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914400" y="534924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D9E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skill graded is a small, permanent gain for the worker — and every match made is one less blind hire for an MSME.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Pramaan.AI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ships next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4E7EE"/>
            </a:solidFill>
            <a:prstDash val="solid"/>
          </a:ln>
          <a:effectLst>
            <a:outerShdw blurRad="101600" dist="25400" dir="5400000" algn="bl" rotWithShape="0">
              <a:srgbClr val="9AA5B8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313432"/>
            <a:ext cx="640080" cy="640080"/>
          </a:xfrm>
          <a:prstGeom prst="ellipse">
            <a:avLst/>
          </a:prstGeom>
          <a:solidFill>
            <a:srgbClr val="132A4C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" y="2473452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33172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7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Beckn-style network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600200" y="2770632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Open, interoperable discovery so any registry can plug into the same match-and-hire protocol.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17920" y="205740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4E7EE"/>
            </a:solidFill>
            <a:prstDash val="solid"/>
          </a:ln>
          <a:effectLst>
            <a:outerShdw blurRad="101600" dist="25400" dir="5400000" algn="bl" rotWithShape="0">
              <a:srgbClr val="9AA5B8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73952" y="2313432"/>
            <a:ext cx="640080" cy="640080"/>
          </a:xfrm>
          <a:prstGeom prst="ellipse">
            <a:avLst/>
          </a:prstGeom>
          <a:solidFill>
            <a:srgbClr val="1E9E6C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3972" y="2473452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233172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7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languages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7269480" y="2770632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resume and capsule prompt is language-agnostic — adding a state language is a config change.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429768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4E7EE"/>
            </a:solidFill>
            <a:prstDash val="solid"/>
          </a:ln>
          <a:effectLst>
            <a:outerShdw blurRad="101600" dist="25400" dir="5400000" algn="bl" rotWithShape="0">
              <a:srgbClr val="9AA5B8">
                <a:alpha val="2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4553712"/>
            <a:ext cx="640080" cy="640080"/>
          </a:xfrm>
          <a:prstGeom prst="ellipse">
            <a:avLst/>
          </a:prstGeom>
          <a:solidFill>
            <a:srgbClr val="132A4C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4692" y="4713732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457200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7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Offline-first mobile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1600200" y="5010912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Voice-based assessment on a basic smartphone, for workers with patchy connectivity.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17920" y="429768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4E7EE"/>
            </a:solidFill>
            <a:prstDash val="solid"/>
          </a:ln>
          <a:effectLst>
            <a:outerShdw blurRad="101600" dist="25400" dir="5400000" algn="bl" rotWithShape="0">
              <a:srgbClr val="9AA5B8">
                <a:alpha val="2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73952" y="4553712"/>
            <a:ext cx="640080" cy="640080"/>
          </a:xfrm>
          <a:prstGeom prst="ellipse">
            <a:avLst/>
          </a:prstGeom>
          <a:solidFill>
            <a:srgbClr val="1E9E6C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3972" y="4713732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69480" y="457200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7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Employer verification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7269480" y="5010912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MSME identity checks so a Skill Passport carries even more institutional trust.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Pramaan.AI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C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1E3B66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3657600"/>
            <a:ext cx="5486400" cy="5486400"/>
          </a:xfrm>
          <a:prstGeom prst="ellipse">
            <a:avLst/>
          </a:prstGeom>
          <a:solidFill>
            <a:srgbClr val="1E3B66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592928" y="1371600"/>
            <a:ext cx="1005840" cy="1005840"/>
          </a:xfrm>
          <a:prstGeom prst="ellipse">
            <a:avLst/>
          </a:prstGeom>
          <a:solidFill>
            <a:srgbClr val="F2A33B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4388" y="162306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65176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Let’s make skill visible.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914400" y="34290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Pramaan.AI — Proof of Skill for India’s Workforce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41148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849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Happy to walk through a live demo.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Pramaan.AI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1478</Words>
  <Application>Microsoft Office PowerPoint</Application>
  <PresentationFormat>Widescreen</PresentationFormat>
  <Paragraphs>240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Naresh Kumar</cp:lastModifiedBy>
  <cp:revision>5</cp:revision>
  <dcterms:created xsi:type="dcterms:W3CDTF">2026-09-10T13:54:05Z</dcterms:created>
  <dcterms:modified xsi:type="dcterms:W3CDTF">2026-09-11T03:39:14Z</dcterms:modified>
</cp:coreProperties>
</file>